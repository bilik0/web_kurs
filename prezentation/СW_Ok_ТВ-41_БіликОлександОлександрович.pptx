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Montserrat" panose="020B0604020202020204" charset="-52"/>
      <p:regular r:id="rId22"/>
      <p:bold r:id="rId23"/>
      <p:italic r:id="rId24"/>
      <p:boldItalic r:id="rId25"/>
    </p:embeddedFont>
    <p:embeddedFont>
      <p:font typeface="Open Sans" panose="020B0604020202020204" charset="0"/>
      <p:regular r:id="rId26"/>
      <p:bold r:id="rId27"/>
      <p:italic r:id="rId28"/>
      <p:boldItalic r:id="rId29"/>
    </p:embeddedFont>
    <p:embeddedFont>
      <p:font typeface="Tahoma" panose="020B0604030504040204" pitchFamily="34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72196F1-986D-4F49-808C-44583FBEE78F}">
  <a:tblStyle styleId="{D72196F1-986D-4F49-808C-44583FBEE78F}" styleName="Table_0">
    <a:wholeTbl>
      <a:tcTxStyle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  <a:fill>
          <a:solidFill>
            <a:srgbClr val="CFD7E7"/>
          </a:solidFill>
        </a:fill>
      </a:tcStyle>
    </a:band2V>
    <a:lastCol>
      <a:tcTxStyle b="on" i="off"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888835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1747224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8929589" name="Google Shape;81;p1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1155844" name="Google Shape;82;p1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3764000" name="Google Shape;92;p2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371894405" name="Google Shape;93;p2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598597" name="Google Shape;105;p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115783983" name="Google Shape;106;p3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883167" name="Google Shape;119;p4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29717135" name="Google Shape;120;p4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8712363" name="Google Shape;132;p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12530773" name="Google Shape;133;p5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6962320" name="Google Shape;146;p6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057250339" name="Google Shape;147;p6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608695" name="Google Shape;163;p7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66224885" name="Google Shape;164;p7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3623162" name="Google Shape;179;p8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64791638" name="Google Shape;180;p8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512852" name="Google Shape;198;p9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86460559" name="Google Shape;199;p9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488020" name="Google Shape;212;p1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86263725" name="Google Shape;213;p1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396070" name="Google Shape;224;p11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45971963" name="Google Shape;225;p11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6996360" name="Google Shape;235;p12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29370549" name="Google Shape;236;p12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6211532" name="Google Shape;249;p1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0306243" name="Google Shape;250;p13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488925" name="Google Shape;271;p14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49608509" name="Google Shape;272;p14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429759" name="Google Shape;284;p15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25572763" name="Google Shape;285;p15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Blank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9222917" name="Google Shape;12;p2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99939578" name="Google Shape;13;p2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7705798" name="Google Shape;14;p2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Slide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8308273" name="Google Shape;16;p3"/>
          <p:cNvSpPr txBox="1"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3234192" name="Google Shape;17;p3"/>
          <p:cNvSpPr txBox="1"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98088850" name="Google Shape;18;p3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1495995" name="Google Shape;19;p3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79006164" name="Google Shape;20;p3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Content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2332392" name="Google Shape;22;p4"/>
          <p:cNvSpPr txBox="1"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58191899" name="Google Shape;23;p4"/>
          <p:cNvSpPr txBox="1"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95501473" name="Google Shape;24;p4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0973190" name="Google Shape;25;p4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08554453" name="Google Shape;26;p4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Section Header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8255746" name="Google Shape;28;p5"/>
          <p:cNvSpPr txBox="1"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23440058" name="Google Shape;29;p5"/>
          <p:cNvSpPr txBox="1"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07575345" name="Google Shape;30;p5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6363301" name="Google Shape;31;p5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49105574" name="Google Shape;32;p5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wo Content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799862" name="Google Shape;34;p6"/>
          <p:cNvSpPr txBox="1"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34578134" name="Google Shape;35;p6"/>
          <p:cNvSpPr txBox="1">
            <a:spLocks noGrp="1"/>
          </p:cNvSpPr>
          <p:nvPr>
            <p:ph type="body" idx="1"/>
          </p:nvPr>
        </p:nvSpPr>
        <p:spPr bwMode="auto"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171123332" name="Google Shape;36;p6"/>
          <p:cNvSpPr txBox="1">
            <a:spLocks noGrp="1"/>
          </p:cNvSpPr>
          <p:nvPr>
            <p:ph type="body" idx="2"/>
          </p:nvPr>
        </p:nvSpPr>
        <p:spPr bwMode="auto"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27986146" name="Google Shape;37;p6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455428" name="Google Shape;38;p6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27775921" name="Google Shape;39;p6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Comparison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202260" name="Google Shape;41;p7"/>
          <p:cNvSpPr txBox="1"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07116177" name="Google Shape;42;p7"/>
          <p:cNvSpPr txBox="1"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997561342" name="Google Shape;43;p7"/>
          <p:cNvSpPr txBox="1">
            <a:spLocks noGrp="1"/>
          </p:cNvSpPr>
          <p:nvPr>
            <p:ph type="body" idx="2"/>
          </p:nvPr>
        </p:nvSpPr>
        <p:spPr bwMode="auto"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2140704229" name="Google Shape;44;p7"/>
          <p:cNvSpPr txBox="1">
            <a:spLocks noGrp="1"/>
          </p:cNvSpPr>
          <p:nvPr>
            <p:ph type="body" idx="3"/>
          </p:nvPr>
        </p:nvSpPr>
        <p:spPr bwMode="auto"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765330069" name="Google Shape;45;p7"/>
          <p:cNvSpPr txBox="1">
            <a:spLocks noGrp="1"/>
          </p:cNvSpPr>
          <p:nvPr>
            <p:ph type="body" idx="4"/>
          </p:nvPr>
        </p:nvSpPr>
        <p:spPr bwMode="auto"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70121553" name="Google Shape;46;p7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8855641" name="Google Shape;47;p7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70164398" name="Google Shape;48;p7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Only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922046" name="Google Shape;50;p8"/>
          <p:cNvSpPr txBox="1"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85241815" name="Google Shape;51;p8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59604740" name="Google Shape;52;p8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5851461" name="Google Shape;53;p8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Content with Caption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5345752" name="Google Shape;55;p9"/>
          <p:cNvSpPr txBox="1"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98663412" name="Google Shape;56;p9"/>
          <p:cNvSpPr txBox="1">
            <a:spLocks noGrp="1"/>
          </p:cNvSpPr>
          <p:nvPr>
            <p:ph type="body" idx="1"/>
          </p:nvPr>
        </p:nvSpPr>
        <p:spPr bwMode="auto"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61665474" name="Google Shape;57;p9"/>
          <p:cNvSpPr txBox="1">
            <a:spLocks noGrp="1"/>
          </p:cNvSpPr>
          <p:nvPr>
            <p:ph type="body" idx="2"/>
          </p:nvPr>
        </p:nvSpPr>
        <p:spPr bwMode="auto"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690232152" name="Google Shape;58;p9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39367688" name="Google Shape;59;p9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19741613" name="Google Shape;60;p9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Picture with Caption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9463663" name="Google Shape;62;p10"/>
          <p:cNvSpPr txBox="1"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09154967" name="Google Shape;63;p10"/>
          <p:cNvSpPr>
            <a:spLocks noGrp="1"/>
          </p:cNvSpPr>
          <p:nvPr>
            <p:ph type="pic" idx="2"/>
          </p:nvPr>
        </p:nvSpPr>
        <p:spPr bwMode="auto"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08124549" name="Google Shape;64;p10"/>
          <p:cNvSpPr txBox="1">
            <a:spLocks noGrp="1"/>
          </p:cNvSpPr>
          <p:nvPr>
            <p:ph type="body" idx="1"/>
          </p:nvPr>
        </p:nvSpPr>
        <p:spPr bwMode="auto"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pPr>
              <a:defRPr/>
            </a:pPr>
            <a:endParaRPr/>
          </a:p>
        </p:txBody>
      </p:sp>
      <p:sp>
        <p:nvSpPr>
          <p:cNvPr id="656741430" name="Google Shape;65;p10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24371431" name="Google Shape;66;p10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16012835" name="Google Shape;67;p10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Title and Vertical Text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901919" name="Google Shape;69;p11"/>
          <p:cNvSpPr txBox="1"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5980573" name="Google Shape;70;p11"/>
          <p:cNvSpPr txBox="1">
            <a:spLocks noGrp="1"/>
          </p:cNvSpPr>
          <p:nvPr>
            <p:ph type="body" idx="1"/>
          </p:nvPr>
        </p:nvSpPr>
        <p:spPr bwMode="auto"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13884864" name="Google Shape;71;p11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5292676" name="Google Shape;72;p11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87455404" name="Google Shape;73;p11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matchingName="Vertical Title and Text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8499001" name="Google Shape;75;p12"/>
          <p:cNvSpPr txBox="1">
            <a:spLocks noGrp="1"/>
          </p:cNvSpPr>
          <p:nvPr>
            <p:ph type="title"/>
          </p:nvPr>
        </p:nvSpPr>
        <p:spPr bwMode="auto"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99516616" name="Google Shape;76;p12"/>
          <p:cNvSpPr txBox="1">
            <a:spLocks noGrp="1"/>
          </p:cNvSpPr>
          <p:nvPr>
            <p:ph type="body" idx="1"/>
          </p:nvPr>
        </p:nvSpPr>
        <p:spPr bwMode="auto"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59140017" name="Google Shape;77;p12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41007240" name="Google Shape;78;p12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11723696" name="Google Shape;79;p12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757691" name="Google Shape;6;p1"/>
          <p:cNvSpPr txBox="1"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323047186" name="Google Shape;7;p1"/>
          <p:cNvSpPr txBox="1"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799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93048571" name="Google Shape;8;p1"/>
          <p:cNvSpPr txBox="1">
            <a:spLocks noGrp="1"/>
          </p:cNvSpPr>
          <p:nvPr>
            <p:ph type="dt" idx="10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85400351" name="Google Shape;9;p1"/>
          <p:cNvSpPr txBox="1">
            <a:spLocks noGrp="1"/>
          </p:cNvSpPr>
          <p:nvPr>
            <p:ph type="ftr" idx="11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77389857" name="Google Shape;10;p1"/>
          <p:cNvSpPr txBox="1">
            <a:spLocks noGrp="1"/>
          </p:cNvSpPr>
          <p:nvPr>
            <p:ph type="sldNum" idx="12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tm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455518" name="Google Shape;84;p13"/>
          <p:cNvSpPr/>
          <p:nvPr/>
        </p:nvSpPr>
        <p:spPr bwMode="auto">
          <a:xfrm>
            <a:off x="0" y="0"/>
            <a:ext cx="12192000" cy="12066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53054712" name="Google Shape;85;p13"/>
          <p:cNvSpPr/>
          <p:nvPr/>
        </p:nvSpPr>
        <p:spPr bwMode="auto">
          <a:xfrm>
            <a:off x="0" y="6333410"/>
            <a:ext cx="12192000" cy="5250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640311506" name="Google Shape;86;p13"/>
          <p:cNvPicPr/>
          <p:nvPr/>
        </p:nvPicPr>
        <p:blipFill rotWithShape="1">
          <a:blip r:embed="rId3">
            <a:alphaModFix/>
          </a:blip>
          <a:srcRect t="80" b="78"/>
          <a:stretch/>
        </p:blipFill>
        <p:spPr bwMode="auto">
          <a:xfrm>
            <a:off x="107204" y="55999"/>
            <a:ext cx="731700" cy="10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0675603" name="Google Shape;87;p13"/>
          <p:cNvSpPr txBox="1"/>
          <p:nvPr/>
        </p:nvSpPr>
        <p:spPr bwMode="auto">
          <a:xfrm>
            <a:off x="940525" y="54913"/>
            <a:ext cx="6165600" cy="9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НАЦІОНАЛЬНИЙ ТЕХНІЧНИЙ УНІВЕРСИТЕТ УКРАЇНИ</a:t>
            </a:r>
            <a:endParaRPr sz="18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«КИЇВСЬКИЙ ПОЛІТЕХНІЧНИЙ ІНСТИТУТ</a:t>
            </a:r>
            <a:endParaRPr sz="18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імені ІГОРЯ СІКОРСЬКОГО»</a:t>
            </a:r>
            <a:endParaRPr sz="18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2566560" name="Google Shape;88;p13"/>
          <p:cNvSpPr txBox="1"/>
          <p:nvPr/>
        </p:nvSpPr>
        <p:spPr bwMode="auto">
          <a:xfrm>
            <a:off x="225288" y="1170603"/>
            <a:ext cx="11661900" cy="1384954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0" dirty="0" err="1">
                <a:solidFill>
                  <a:srgbClr val="002060"/>
                </a:solidFill>
                <a:latin typeface="Arial"/>
                <a:ea typeface="Arial"/>
                <a:cs typeface="Arial"/>
              </a:rPr>
              <a:t>Навчально-науковий</a:t>
            </a:r>
            <a:r>
              <a:rPr lang="en-US" sz="2800" b="0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800" b="0" dirty="0" err="1">
                <a:solidFill>
                  <a:srgbClr val="002060"/>
                </a:solidFill>
                <a:latin typeface="Arial"/>
                <a:ea typeface="Arial"/>
                <a:cs typeface="Arial"/>
              </a:rPr>
              <a:t>інститут</a:t>
            </a:r>
            <a:r>
              <a:rPr lang="en-US" sz="2800" b="0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800" b="0" dirty="0" err="1">
                <a:solidFill>
                  <a:srgbClr val="002060"/>
                </a:solidFill>
                <a:latin typeface="Arial"/>
                <a:ea typeface="Arial"/>
                <a:cs typeface="Arial"/>
              </a:rPr>
              <a:t>атомної</a:t>
            </a:r>
            <a:r>
              <a:rPr lang="en-US" sz="2800" b="0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800" b="0" dirty="0" err="1">
                <a:solidFill>
                  <a:srgbClr val="002060"/>
                </a:solidFill>
                <a:latin typeface="Arial"/>
                <a:ea typeface="Arial"/>
                <a:cs typeface="Arial"/>
              </a:rPr>
              <a:t>та</a:t>
            </a:r>
            <a:r>
              <a:rPr lang="en-US" sz="2800" b="0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800" b="0" dirty="0" err="1">
                <a:solidFill>
                  <a:srgbClr val="002060"/>
                </a:solidFill>
                <a:latin typeface="Arial"/>
                <a:ea typeface="Arial"/>
                <a:cs typeface="Arial"/>
              </a:rPr>
              <a:t>теплової</a:t>
            </a:r>
            <a:r>
              <a:rPr lang="en-US" sz="2800" b="0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800" b="0" dirty="0" err="1">
                <a:solidFill>
                  <a:srgbClr val="002060"/>
                </a:solidFill>
                <a:latin typeface="Arial"/>
                <a:ea typeface="Arial"/>
                <a:cs typeface="Arial"/>
              </a:rPr>
              <a:t>енергетики</a:t>
            </a:r>
            <a:endParaRPr sz="2800" b="0" dirty="0">
              <a:solidFill>
                <a:srgbClr val="002060"/>
              </a:solidFill>
              <a:latin typeface="Arial"/>
              <a:ea typeface="Arial"/>
              <a:cs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0" dirty="0" err="1">
                <a:solidFill>
                  <a:srgbClr val="002060"/>
                </a:solidFill>
                <a:latin typeface="Arial"/>
                <a:ea typeface="Arial"/>
                <a:cs typeface="Arial"/>
              </a:rPr>
              <a:t>Кафедра</a:t>
            </a:r>
            <a:r>
              <a:rPr lang="en-US" sz="2800" b="0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800" b="0" dirty="0" err="1">
                <a:solidFill>
                  <a:srgbClr val="002060"/>
                </a:solidFill>
                <a:latin typeface="Arial"/>
                <a:ea typeface="Arial"/>
                <a:cs typeface="Arial"/>
              </a:rPr>
              <a:t>інженерії</a:t>
            </a:r>
            <a:r>
              <a:rPr lang="en-US" sz="2800" b="0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800" b="0" dirty="0" err="1">
                <a:solidFill>
                  <a:srgbClr val="002060"/>
                </a:solidFill>
                <a:latin typeface="Arial"/>
                <a:ea typeface="Arial"/>
                <a:cs typeface="Arial"/>
              </a:rPr>
              <a:t>програмного</a:t>
            </a:r>
            <a:r>
              <a:rPr lang="en-US" sz="2800" b="0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800" b="0" dirty="0" err="1">
                <a:solidFill>
                  <a:srgbClr val="002060"/>
                </a:solidFill>
                <a:latin typeface="Arial"/>
                <a:ea typeface="Arial"/>
                <a:cs typeface="Arial"/>
              </a:rPr>
              <a:t>забезпечення</a:t>
            </a:r>
            <a:r>
              <a:rPr lang="en-US" sz="2800" b="0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 в </a:t>
            </a:r>
            <a:r>
              <a:rPr lang="en-US" sz="2800" b="0" dirty="0" err="1">
                <a:solidFill>
                  <a:srgbClr val="002060"/>
                </a:solidFill>
                <a:latin typeface="Arial"/>
                <a:ea typeface="Arial"/>
                <a:cs typeface="Arial"/>
              </a:rPr>
              <a:t>енергетиці</a:t>
            </a:r>
            <a:endParaRPr sz="2800" b="0" dirty="0">
              <a:solidFill>
                <a:srgbClr val="002060"/>
              </a:solidFill>
              <a:latin typeface="Arial"/>
              <a:ea typeface="Arial"/>
              <a:cs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1" dirty="0" err="1">
                <a:solidFill>
                  <a:srgbClr val="002060"/>
                </a:solidFill>
                <a:latin typeface="Arial"/>
                <a:ea typeface="Arial"/>
                <a:cs typeface="Arial"/>
              </a:rPr>
              <a:t>Основи</a:t>
            </a:r>
            <a:r>
              <a:rPr lang="en-US" sz="2800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Arial"/>
                <a:ea typeface="Arial"/>
                <a:cs typeface="Arial"/>
              </a:rPr>
              <a:t>Веб-програмування</a:t>
            </a:r>
            <a:r>
              <a:rPr lang="en-US" sz="2800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. </a:t>
            </a:r>
            <a:r>
              <a:rPr lang="en-US" sz="2800" b="1" dirty="0" err="1">
                <a:solidFill>
                  <a:srgbClr val="002060"/>
                </a:solidFill>
                <a:latin typeface="Arial"/>
                <a:ea typeface="Arial"/>
                <a:cs typeface="Arial"/>
              </a:rPr>
              <a:t>Курсова</a:t>
            </a:r>
            <a:r>
              <a:rPr lang="en-US" sz="2800" b="1" dirty="0">
                <a:solidFill>
                  <a:srgbClr val="002060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2800" b="1" dirty="0" err="1">
                <a:solidFill>
                  <a:srgbClr val="002060"/>
                </a:solidFill>
                <a:latin typeface="Arial"/>
                <a:ea typeface="Arial"/>
                <a:cs typeface="Arial"/>
              </a:rPr>
              <a:t>робота</a:t>
            </a:r>
            <a:endParaRPr sz="2800" b="0" dirty="0">
              <a:solidFill>
                <a:srgbClr val="0020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34781188" name="Google Shape;89;p13"/>
          <p:cNvSpPr txBox="1"/>
          <p:nvPr/>
        </p:nvSpPr>
        <p:spPr bwMode="auto">
          <a:xfrm>
            <a:off x="259830" y="2667996"/>
            <a:ext cx="11672339" cy="354366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000" b="1" dirty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«</a:t>
            </a:r>
            <a:r>
              <a:rPr lang="en-US" sz="4000" b="1" dirty="0" err="1">
                <a:solidFill>
                  <a:srgbClr val="1F3864"/>
                </a:solidFill>
                <a:latin typeface="Tahoma"/>
                <a:ea typeface="Tahoma"/>
                <a:cs typeface="Tahoma"/>
              </a:rPr>
              <a:t>Сайт</a:t>
            </a:r>
            <a:r>
              <a:rPr lang="en-US" sz="4000" b="1" dirty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4000" b="1" dirty="0" err="1">
                <a:solidFill>
                  <a:srgbClr val="1F3864"/>
                </a:solidFill>
                <a:latin typeface="Tahoma"/>
                <a:ea typeface="Tahoma"/>
                <a:cs typeface="Tahoma"/>
              </a:rPr>
              <a:t>продажу</a:t>
            </a:r>
            <a:r>
              <a:rPr lang="en-US" sz="4000" b="1" dirty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4000" b="1" dirty="0" err="1">
                <a:solidFill>
                  <a:srgbClr val="1F3864"/>
                </a:solidFill>
                <a:latin typeface="Tahoma"/>
                <a:ea typeface="Tahoma"/>
                <a:cs typeface="Tahoma"/>
              </a:rPr>
              <a:t>інверторів</a:t>
            </a:r>
            <a:r>
              <a:rPr lang="en-US" sz="4000" b="1" dirty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4000" b="1" dirty="0" err="1">
                <a:solidFill>
                  <a:srgbClr val="1F3864"/>
                </a:solidFill>
                <a:latin typeface="Tahoma"/>
                <a:ea typeface="Tahoma"/>
                <a:cs typeface="Tahoma"/>
              </a:rPr>
              <a:t>та</a:t>
            </a:r>
            <a:r>
              <a:rPr lang="en-US" sz="4000" b="1" dirty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4000" b="1" dirty="0" err="1">
                <a:solidFill>
                  <a:srgbClr val="1F3864"/>
                </a:solidFill>
                <a:latin typeface="Tahoma"/>
                <a:ea typeface="Tahoma"/>
                <a:cs typeface="Tahoma"/>
              </a:rPr>
              <a:t>акумуляторів</a:t>
            </a:r>
            <a:r>
              <a:rPr lang="en-US" sz="4000" b="1" dirty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»</a:t>
            </a:r>
            <a:endParaRPr sz="4000" b="1" dirty="0">
              <a:solidFill>
                <a:srgbClr val="1F3864"/>
              </a:solidFill>
              <a:latin typeface="Tahoma"/>
              <a:ea typeface="Tahoma"/>
              <a:cs typeface="Tahom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200" b="0" u="sng" dirty="0" err="1">
                <a:solidFill>
                  <a:srgbClr val="1F3864"/>
                </a:solidFill>
                <a:latin typeface="Tahoma"/>
                <a:ea typeface="Tahoma"/>
                <a:cs typeface="Tahoma"/>
              </a:rPr>
              <a:t>Виконав</a:t>
            </a:r>
            <a:r>
              <a:rPr lang="en-US" sz="3200" b="0" u="sng" dirty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:</a:t>
            </a:r>
            <a:r>
              <a:rPr lang="en-US" sz="3200" b="0" dirty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3200" b="0" dirty="0" err="1">
                <a:solidFill>
                  <a:srgbClr val="1F3864"/>
                </a:solidFill>
                <a:latin typeface="Tahoma"/>
                <a:ea typeface="Tahoma"/>
                <a:cs typeface="Tahoma"/>
              </a:rPr>
              <a:t>Білик</a:t>
            </a:r>
            <a:r>
              <a:rPr lang="en-US" sz="3200" b="0" dirty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3200" b="0" dirty="0" err="1">
                <a:solidFill>
                  <a:srgbClr val="1F3864"/>
                </a:solidFill>
                <a:latin typeface="Tahoma"/>
                <a:ea typeface="Tahoma"/>
                <a:cs typeface="Tahoma"/>
              </a:rPr>
              <a:t>Олександр</a:t>
            </a:r>
            <a:r>
              <a:rPr lang="en-US" sz="3200" b="0" dirty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3200" b="0" dirty="0" err="1">
                <a:solidFill>
                  <a:srgbClr val="1F3864"/>
                </a:solidFill>
                <a:latin typeface="Tahoma"/>
                <a:ea typeface="Tahoma"/>
                <a:cs typeface="Tahoma"/>
              </a:rPr>
              <a:t>Олександрович</a:t>
            </a:r>
            <a:r>
              <a:rPr lang="uk-UA" sz="3200" b="0" dirty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 ТВ-41,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uk-UA" sz="3200" b="0" dirty="0" err="1">
                <a:solidFill>
                  <a:srgbClr val="1F3864"/>
                </a:solidFill>
                <a:latin typeface="Tahoma"/>
                <a:ea typeface="Tahoma"/>
                <a:cs typeface="Tahoma"/>
              </a:rPr>
              <a:t>Євсєєнко</a:t>
            </a:r>
            <a:r>
              <a:rPr lang="uk-UA" sz="3200" b="0" dirty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 Ярослав</a:t>
            </a:r>
            <a:r>
              <a:rPr lang="en-US" sz="3200" b="0" dirty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 ТВ-41 </a:t>
            </a:r>
            <a:endParaRPr sz="3200" b="0" dirty="0">
              <a:solidFill>
                <a:srgbClr val="1F3864"/>
              </a:solidFill>
              <a:latin typeface="Tahoma"/>
              <a:ea typeface="Tahoma"/>
              <a:cs typeface="Tahom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200" b="0" u="sng" dirty="0" err="1">
                <a:solidFill>
                  <a:srgbClr val="1F3864"/>
                </a:solidFill>
                <a:latin typeface="Tahoma"/>
                <a:ea typeface="Tahoma"/>
                <a:cs typeface="Tahoma"/>
              </a:rPr>
              <a:t>Перевірив</a:t>
            </a:r>
            <a:r>
              <a:rPr lang="en-US" sz="3200" b="0" u="sng" dirty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:</a:t>
            </a:r>
            <a:r>
              <a:rPr lang="en-US" sz="3200" b="0" dirty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3200" b="0" dirty="0" err="1">
                <a:solidFill>
                  <a:srgbClr val="1F3864"/>
                </a:solidFill>
                <a:latin typeface="Tahoma"/>
                <a:ea typeface="Tahoma"/>
                <a:cs typeface="Tahoma"/>
              </a:rPr>
              <a:t>д.т.н</a:t>
            </a:r>
            <a:r>
              <a:rPr lang="en-US" sz="3200" b="0" dirty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., </a:t>
            </a:r>
            <a:r>
              <a:rPr lang="en-US" sz="3200" b="0" dirty="0" err="1">
                <a:solidFill>
                  <a:srgbClr val="1F3864"/>
                </a:solidFill>
                <a:latin typeface="Tahoma"/>
                <a:ea typeface="Tahoma"/>
                <a:cs typeface="Tahoma"/>
              </a:rPr>
              <a:t>доцент</a:t>
            </a:r>
            <a:r>
              <a:rPr lang="en-US" sz="3200" b="0" dirty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, </a:t>
            </a:r>
            <a:r>
              <a:rPr lang="en-US" sz="3200" b="0" dirty="0" err="1">
                <a:solidFill>
                  <a:srgbClr val="1F3864"/>
                </a:solidFill>
                <a:latin typeface="Tahoma"/>
                <a:ea typeface="Tahoma"/>
                <a:cs typeface="Tahoma"/>
              </a:rPr>
              <a:t>Недашківський</a:t>
            </a:r>
            <a:r>
              <a:rPr lang="en-US" sz="3200" b="0" dirty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 О. Л.</a:t>
            </a:r>
            <a:endParaRPr sz="3200" b="0" dirty="0">
              <a:solidFill>
                <a:srgbClr val="1F3864"/>
              </a:solidFill>
              <a:latin typeface="Tahoma"/>
              <a:ea typeface="Tahoma"/>
              <a:cs typeface="Tahom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200" b="0" dirty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GitHub: github.com/</a:t>
            </a:r>
            <a:r>
              <a:rPr lang="en-US" sz="1200" b="0" dirty="0" err="1">
                <a:solidFill>
                  <a:srgbClr val="1F3864"/>
                </a:solidFill>
                <a:latin typeface="Tahoma"/>
                <a:ea typeface="Tahoma"/>
                <a:cs typeface="Tahoma"/>
              </a:rPr>
              <a:t>YaroslavYevseenko</a:t>
            </a:r>
            <a:r>
              <a:rPr lang="en-US" sz="1200" b="0" dirty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/</a:t>
            </a:r>
            <a:r>
              <a:rPr lang="en-US" sz="1200" b="0" dirty="0" err="1">
                <a:solidFill>
                  <a:srgbClr val="1F3864"/>
                </a:solidFill>
                <a:latin typeface="Tahoma"/>
                <a:ea typeface="Tahoma"/>
                <a:cs typeface="Tahoma"/>
              </a:rPr>
              <a:t>SvitEnergy</a:t>
            </a:r>
            <a:endParaRPr sz="1200" b="0" dirty="0">
              <a:solidFill>
                <a:srgbClr val="1F3864"/>
              </a:solidFill>
              <a:latin typeface="Tahoma"/>
              <a:ea typeface="Tahoma"/>
              <a:cs typeface="Tahoma"/>
            </a:endParaRPr>
          </a:p>
          <a:p>
            <a:pPr marL="0" lvl="0" indent="0" algn="ctr" rtl="0">
              <a:spcBef>
                <a:spcPts val="1500"/>
              </a:spcBef>
              <a:spcAft>
                <a:spcPts val="0"/>
              </a:spcAft>
              <a:buNone/>
              <a:defRPr/>
            </a:pPr>
            <a:r>
              <a:rPr lang="en-US" sz="3200" b="0" dirty="0" err="1">
                <a:solidFill>
                  <a:srgbClr val="1F3864"/>
                </a:solidFill>
                <a:latin typeface="Tahoma"/>
                <a:ea typeface="Tahoma"/>
                <a:cs typeface="Tahoma"/>
              </a:rPr>
              <a:t>Київ</a:t>
            </a:r>
            <a:r>
              <a:rPr lang="en-US" sz="3200" b="0" dirty="0">
                <a:solidFill>
                  <a:srgbClr val="1F3864"/>
                </a:solidFill>
                <a:latin typeface="Tahoma"/>
                <a:ea typeface="Tahoma"/>
                <a:cs typeface="Tahoma"/>
              </a:rPr>
              <a:t> – 2026</a:t>
            </a:r>
            <a:endParaRPr sz="3200" b="0" dirty="0">
              <a:solidFill>
                <a:srgbClr val="1F3864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74298079" name="Google Shape;90;p13"/>
          <p:cNvSpPr txBox="1"/>
          <p:nvPr/>
        </p:nvSpPr>
        <p:spPr bwMode="auto">
          <a:xfrm>
            <a:off x="11158347" y="6350232"/>
            <a:ext cx="10071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1/17</a:t>
            </a:r>
            <a:endParaRPr sz="24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2985718" name="Google Shape;95;p14"/>
          <p:cNvSpPr/>
          <p:nvPr/>
        </p:nvSpPr>
        <p:spPr bwMode="auto">
          <a:xfrm>
            <a:off x="0" y="6333410"/>
            <a:ext cx="12192000" cy="5250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1207037849" name="Google Shape;96;p14"/>
          <p:cNvCxnSpPr/>
          <p:nvPr/>
        </p:nvCxnSpPr>
        <p:spPr bwMode="auto">
          <a:xfrm>
            <a:off x="0" y="6333401"/>
            <a:ext cx="12192000" cy="5250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1C39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62431180" name="Google Shape;97;p14"/>
          <p:cNvSpPr/>
          <p:nvPr/>
        </p:nvSpPr>
        <p:spPr bwMode="auto">
          <a:xfrm>
            <a:off x="0" y="0"/>
            <a:ext cx="12192000" cy="12066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1843510656" name="Google Shape;98;p14"/>
          <p:cNvCxnSpPr/>
          <p:nvPr/>
        </p:nvCxnSpPr>
        <p:spPr bwMode="auto">
          <a:xfrm>
            <a:off x="0" y="0"/>
            <a:ext cx="12192000" cy="12066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571560739" name="Google Shape;99;p14"/>
          <p:cNvPicPr/>
          <p:nvPr/>
        </p:nvPicPr>
        <p:blipFill rotWithShape="1">
          <a:blip r:embed="rId3">
            <a:alphaModFix/>
          </a:blip>
          <a:srcRect t="80" b="78"/>
          <a:stretch/>
        </p:blipFill>
        <p:spPr bwMode="auto">
          <a:xfrm>
            <a:off x="107204" y="55999"/>
            <a:ext cx="731700" cy="10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7341926" name="Google Shape;100;p14"/>
          <p:cNvSpPr txBox="1"/>
          <p:nvPr/>
        </p:nvSpPr>
        <p:spPr bwMode="auto">
          <a:xfrm>
            <a:off x="1524000" y="1663303"/>
            <a:ext cx="9144000" cy="9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0">
                <a:solidFill>
                  <a:srgbClr val="002060"/>
                </a:solidFill>
                <a:latin typeface="Tahoma"/>
                <a:ea typeface="Tahoma"/>
                <a:cs typeface="Tahoma"/>
              </a:rPr>
              <a:t>Актуальність теми</a:t>
            </a:r>
            <a:endParaRPr sz="6000">
              <a:solidFill>
                <a:srgbClr val="00206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015532408" name="Google Shape;101;p14"/>
          <p:cNvSpPr txBox="1"/>
          <p:nvPr/>
        </p:nvSpPr>
        <p:spPr bwMode="auto">
          <a:xfrm>
            <a:off x="1524000" y="3619500"/>
            <a:ext cx="9144000" cy="2381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Опис задачі: </a:t>
            </a:r>
            <a:r>
              <a:rPr lang="en-US" sz="200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Створення платформи «SvitEnergy» для забезпечення енергонезалежності через продаж та автоматизацію підбору обладнання.</a:t>
            </a:r>
            <a:endParaRPr sz="2000" b="1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  <a:defRPr/>
            </a:pP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Критична потреба в автономних системах в Україні.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0" lvl="0" indent="0" algn="ctr" rtl="0">
              <a:spcBef>
                <a:spcPts val="375"/>
              </a:spcBef>
              <a:spcAft>
                <a:spcPts val="0"/>
              </a:spcAft>
              <a:buNone/>
              <a:defRPr/>
            </a:pP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Необхідність автоматизації взаємодії через Telegram.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0" lvl="0" indent="0" algn="ctr" rtl="0">
              <a:spcBef>
                <a:spcPts val="375"/>
              </a:spcBef>
              <a:spcAft>
                <a:spcPts val="0"/>
              </a:spcAft>
              <a:buNone/>
              <a:defRPr/>
            </a:pPr>
            <a:r>
              <a:rPr lang="en-US" sz="20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Спрощення вибору технічно складних товарів.</a:t>
            </a:r>
            <a:endParaRPr sz="20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5457135" name="Google Shape;102;p14"/>
          <p:cNvSpPr txBox="1"/>
          <p:nvPr/>
        </p:nvSpPr>
        <p:spPr bwMode="auto">
          <a:xfrm>
            <a:off x="11158347" y="6350232"/>
            <a:ext cx="10071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</a:rPr>
              <a:t>2/17</a:t>
            </a:r>
            <a:endParaRPr sz="2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36485690" name="Google Shape;103;p14"/>
          <p:cNvSpPr txBox="1"/>
          <p:nvPr/>
        </p:nvSpPr>
        <p:spPr bwMode="auto">
          <a:xfrm>
            <a:off x="940525" y="54913"/>
            <a:ext cx="6165600" cy="9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НАЦІОНАЛЬНИЙ ТЕХНІЧНИЙ УНІВЕРСИТЕТ УКРАЇНИ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«КИЇВСЬКИЙ ПОЛІТЕХНІЧНИЙ ІНСТИТУТ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імені ІГОРЯ СІКОРСЬКОГО»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458675" name="Google Shape;108;p15"/>
          <p:cNvSpPr/>
          <p:nvPr/>
        </p:nvSpPr>
        <p:spPr bwMode="auto">
          <a:xfrm>
            <a:off x="0" y="6333410"/>
            <a:ext cx="12192000" cy="5250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1457533656" name="Google Shape;109;p15"/>
          <p:cNvCxnSpPr/>
          <p:nvPr/>
        </p:nvCxnSpPr>
        <p:spPr bwMode="auto">
          <a:xfrm>
            <a:off x="0" y="6333401"/>
            <a:ext cx="12192000" cy="5250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1C39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85399110" name="Google Shape;110;p15"/>
          <p:cNvSpPr/>
          <p:nvPr/>
        </p:nvSpPr>
        <p:spPr bwMode="auto">
          <a:xfrm>
            <a:off x="0" y="0"/>
            <a:ext cx="12192000" cy="12066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352636236" name="Google Shape;111;p15"/>
          <p:cNvCxnSpPr/>
          <p:nvPr/>
        </p:nvCxnSpPr>
        <p:spPr bwMode="auto">
          <a:xfrm>
            <a:off x="0" y="0"/>
            <a:ext cx="12192000" cy="12066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982231469" name="Google Shape;112;p15"/>
          <p:cNvPicPr/>
          <p:nvPr/>
        </p:nvPicPr>
        <p:blipFill rotWithShape="1">
          <a:blip r:embed="rId3">
            <a:alphaModFix/>
          </a:blip>
          <a:srcRect t="80" b="78"/>
          <a:stretch/>
        </p:blipFill>
        <p:spPr bwMode="auto">
          <a:xfrm>
            <a:off x="107204" y="55999"/>
            <a:ext cx="731700" cy="10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83177809" name="Google Shape;113;p15"/>
          <p:cNvSpPr txBox="1"/>
          <p:nvPr/>
        </p:nvSpPr>
        <p:spPr bwMode="auto">
          <a:xfrm>
            <a:off x="940525" y="54913"/>
            <a:ext cx="6165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НАЦІОНАЛЬНИЙ ТЕХНІЧНИЙ УНІВЕРСИТЕТ УКРАЇНИ</a:t>
            </a:r>
            <a:endParaRPr sz="18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«КИЇВСЬКИЙ ПОЛІТЕХНІЧНИЙ ІНСТИТУТ</a:t>
            </a:r>
            <a:endParaRPr sz="18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імені ІГОРЯ СІКОРСЬКОГО»</a:t>
            </a:r>
            <a:endParaRPr sz="18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0216710" name="Google Shape;114;p15"/>
          <p:cNvSpPr txBox="1"/>
          <p:nvPr/>
        </p:nvSpPr>
        <p:spPr bwMode="auto">
          <a:xfrm>
            <a:off x="1524000" y="1524000"/>
            <a:ext cx="9144000" cy="9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0" b="0" i="0">
                <a:solidFill>
                  <a:srgbClr val="002060"/>
                </a:solidFill>
                <a:latin typeface="Tahoma"/>
                <a:ea typeface="Tahoma"/>
                <a:cs typeface="Tahoma"/>
              </a:rPr>
              <a:t>Постановка задачі</a:t>
            </a:r>
            <a:endParaRPr sz="6000" b="0" i="0">
              <a:solidFill>
                <a:srgbClr val="00206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815893034" name="Google Shape;115;p15"/>
          <p:cNvSpPr txBox="1"/>
          <p:nvPr/>
        </p:nvSpPr>
        <p:spPr bwMode="auto">
          <a:xfrm>
            <a:off x="11158347" y="6350232"/>
            <a:ext cx="1007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3/17</a:t>
            </a:r>
            <a:endParaRPr sz="24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93351655" name="Google Shape;116;p15"/>
          <p:cNvSpPr txBox="1"/>
          <p:nvPr/>
        </p:nvSpPr>
        <p:spPr bwMode="auto">
          <a:xfrm>
            <a:off x="571500" y="2571750"/>
            <a:ext cx="11049000" cy="30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00" b="0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Для досягнення мети було визначено наступний перелік завдань:</a:t>
            </a:r>
            <a:endParaRPr sz="2000" b="0" i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07126541" name="Google Shape;117;p15"/>
          <p:cNvSpPr txBox="1"/>
          <p:nvPr/>
        </p:nvSpPr>
        <p:spPr bwMode="auto">
          <a:xfrm>
            <a:off x="952500" y="3048000"/>
            <a:ext cx="1028700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20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Проєктування та розробка реляційної бази даних (MySQL).</a:t>
            </a:r>
            <a:endParaRPr sz="2200" b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0" lvl="0" indent="0" algn="ctr" rtl="0">
              <a:spcBef>
                <a:spcPts val="1125"/>
              </a:spcBef>
              <a:spcAft>
                <a:spcPts val="0"/>
              </a:spcAft>
              <a:buNone/>
              <a:defRPr/>
            </a:pPr>
            <a:r>
              <a:rPr lang="en-US" sz="220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Реалізація серверної логіки на Node.js та Express.</a:t>
            </a:r>
            <a:endParaRPr sz="2200" b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0" lvl="0" indent="0" algn="ctr" rtl="0">
              <a:spcBef>
                <a:spcPts val="1125"/>
              </a:spcBef>
              <a:spcAft>
                <a:spcPts val="0"/>
              </a:spcAft>
              <a:buNone/>
              <a:defRPr/>
            </a:pPr>
            <a:r>
              <a:rPr lang="en-US" sz="220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Створення адаптивного Frontend інтерфейсу на Vanilla JavaScript.</a:t>
            </a:r>
            <a:endParaRPr sz="2200" b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0" lvl="0" indent="0" algn="ctr" rtl="0">
              <a:spcBef>
                <a:spcPts val="1125"/>
              </a:spcBef>
              <a:spcAft>
                <a:spcPts val="0"/>
              </a:spcAft>
              <a:buNone/>
              <a:defRPr/>
            </a:pPr>
            <a:r>
              <a:rPr lang="en-US" sz="220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Впровадження системи авторизації та особистого кабінету.</a:t>
            </a:r>
            <a:endParaRPr sz="2200" b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0" lvl="0" indent="0" algn="ctr" rtl="0">
              <a:spcBef>
                <a:spcPts val="1125"/>
              </a:spcBef>
              <a:spcAft>
                <a:spcPts val="0"/>
              </a:spcAft>
              <a:buNone/>
              <a:defRPr/>
            </a:pPr>
            <a:r>
              <a:rPr lang="en-US" sz="220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Інтеграція Telegram Bot API для миттєвих сповіщень про замовлення.</a:t>
            </a:r>
            <a:endParaRPr sz="2200" b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800593" name="Google Shape;122;p16"/>
          <p:cNvSpPr/>
          <p:nvPr/>
        </p:nvSpPr>
        <p:spPr bwMode="auto">
          <a:xfrm>
            <a:off x="0" y="0"/>
            <a:ext cx="12192000" cy="12066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2113688352" name="Google Shape;123;p16"/>
          <p:cNvCxnSpPr/>
          <p:nvPr/>
        </p:nvCxnSpPr>
        <p:spPr bwMode="auto">
          <a:xfrm>
            <a:off x="0" y="0"/>
            <a:ext cx="12192000" cy="12066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9356048" name="Google Shape;124;p16"/>
          <p:cNvSpPr/>
          <p:nvPr/>
        </p:nvSpPr>
        <p:spPr bwMode="auto">
          <a:xfrm>
            <a:off x="0" y="6333410"/>
            <a:ext cx="12192000" cy="5250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80376609" name="Google Shape;125;p16"/>
          <p:cNvCxnSpPr/>
          <p:nvPr/>
        </p:nvCxnSpPr>
        <p:spPr bwMode="auto">
          <a:xfrm>
            <a:off x="0" y="6333401"/>
            <a:ext cx="12192000" cy="5250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1C396E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09885970" name="Google Shape;126;p16"/>
          <p:cNvPicPr/>
          <p:nvPr/>
        </p:nvPicPr>
        <p:blipFill rotWithShape="1">
          <a:blip r:embed="rId3">
            <a:alphaModFix/>
          </a:blip>
          <a:srcRect t="80" b="78"/>
          <a:stretch/>
        </p:blipFill>
        <p:spPr bwMode="auto">
          <a:xfrm>
            <a:off x="107204" y="55999"/>
            <a:ext cx="731700" cy="10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608429" name="Google Shape;127;p16"/>
          <p:cNvSpPr txBox="1"/>
          <p:nvPr/>
        </p:nvSpPr>
        <p:spPr bwMode="auto">
          <a:xfrm>
            <a:off x="940525" y="54913"/>
            <a:ext cx="6165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НАЦІОНАЛЬНИЙ ТЕХНІЧНИЙ УНІВЕРСИТЕТ УКРАЇНИ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«КИЇВСЬКИЙ ПОЛІТЕХНІЧНИЙ ІНСТИТУТ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імені ІГОРЯ СІКОРСЬКОГО»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3152941" name="Google Shape;128;p16"/>
          <p:cNvSpPr txBox="1"/>
          <p:nvPr/>
        </p:nvSpPr>
        <p:spPr bwMode="auto">
          <a:xfrm>
            <a:off x="1524000" y="133350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5000" b="1">
                <a:solidFill>
                  <a:srgbClr val="002060"/>
                </a:solidFill>
                <a:latin typeface="Tahoma"/>
                <a:ea typeface="Tahoma"/>
                <a:cs typeface="Tahoma"/>
              </a:rPr>
              <a:t>Аналіз предметної області</a:t>
            </a:r>
            <a:endParaRPr sz="5000" b="1">
              <a:solidFill>
                <a:srgbClr val="00206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967643117" name="Google Shape;129;p16"/>
          <p:cNvSpPr txBox="1"/>
          <p:nvPr/>
        </p:nvSpPr>
        <p:spPr bwMode="auto">
          <a:xfrm>
            <a:off x="1524000" y="2667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Огляд рішень: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Стандартні CMS (Shopify, Wix) мають обмежену гнучкість для кастомної логіки Telegram та складних фільтрів.</a:t>
            </a:r>
            <a:endParaRPr sz="24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0" lvl="0" indent="0" algn="ctr" rtl="0">
              <a:spcBef>
                <a:spcPts val="1500"/>
              </a:spcBef>
              <a:spcAft>
                <a:spcPts val="0"/>
              </a:spcAft>
              <a:buNone/>
              <a:defRPr/>
            </a:pPr>
            <a:r>
              <a:rPr lang="en-US" sz="24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Обґрунтування стеку:</a:t>
            </a:r>
            <a:endParaRPr sz="24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  <a:defRPr/>
            </a:pPr>
            <a:r>
              <a:rPr lang="en-US" sz="24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JavaScript (SPA):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Висока швидкість взаємодії.</a:t>
            </a:r>
            <a:endParaRPr sz="24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  <a:defRPr/>
            </a:pPr>
            <a:r>
              <a:rPr lang="en-US" sz="24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Node.js: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Ефективна обробка асинхронних запитів.</a:t>
            </a:r>
            <a:endParaRPr sz="24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0" lvl="0" indent="0" algn="ctr" rtl="0">
              <a:spcBef>
                <a:spcPts val="750"/>
              </a:spcBef>
              <a:spcAft>
                <a:spcPts val="750"/>
              </a:spcAft>
              <a:buNone/>
              <a:defRPr/>
            </a:pPr>
            <a:r>
              <a:rPr lang="en-US" sz="2400" b="1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MySQL:</a:t>
            </a:r>
            <a:r>
              <a:rPr lang="en-US" sz="24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Надійне збереження транзакційних даних.</a:t>
            </a:r>
            <a:endParaRPr sz="24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5736124" name="Google Shape;130;p16"/>
          <p:cNvSpPr txBox="1"/>
          <p:nvPr/>
        </p:nvSpPr>
        <p:spPr bwMode="auto">
          <a:xfrm>
            <a:off x="11158347" y="6350232"/>
            <a:ext cx="1007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</a:rPr>
              <a:t>4/17</a:t>
            </a:r>
            <a:endParaRPr sz="2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5673188" name="Google Shape;135;p17"/>
          <p:cNvSpPr/>
          <p:nvPr/>
        </p:nvSpPr>
        <p:spPr bwMode="auto">
          <a:xfrm>
            <a:off x="0" y="6334125"/>
            <a:ext cx="12192000" cy="5238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1559272773" name="Google Shape;136;p17"/>
          <p:cNvCxnSpPr/>
          <p:nvPr/>
        </p:nvCxnSpPr>
        <p:spPr bwMode="auto">
          <a:xfrm>
            <a:off x="0" y="6334125"/>
            <a:ext cx="12192000" cy="5238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1C39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41786196" name="Google Shape;137;p17"/>
          <p:cNvSpPr/>
          <p:nvPr/>
        </p:nvSpPr>
        <p:spPr bwMode="auto">
          <a:xfrm>
            <a:off x="0" y="0"/>
            <a:ext cx="12192000" cy="12096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1860432241" name="Google Shape;138;p17"/>
          <p:cNvCxnSpPr/>
          <p:nvPr/>
        </p:nvCxnSpPr>
        <p:spPr bwMode="auto">
          <a:xfrm>
            <a:off x="0" y="0"/>
            <a:ext cx="12192000" cy="12096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828154944" name="Google Shape;139;p17"/>
          <p:cNvPicPr/>
          <p:nvPr/>
        </p:nvPicPr>
        <p:blipFill rotWithShape="1">
          <a:blip r:embed="rId4">
            <a:alphaModFix/>
          </a:blip>
          <a:srcRect/>
          <a:stretch/>
        </p:blipFill>
        <p:spPr bwMode="auto">
          <a:xfrm>
            <a:off x="104775" y="57150"/>
            <a:ext cx="7335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31865" name="Google Shape;140;p17"/>
          <p:cNvSpPr txBox="1"/>
          <p:nvPr/>
        </p:nvSpPr>
        <p:spPr bwMode="auto">
          <a:xfrm>
            <a:off x="571500" y="1428750"/>
            <a:ext cx="11049000" cy="83129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5400" b="0" i="0">
                <a:solidFill>
                  <a:srgbClr val="002060"/>
                </a:solidFill>
                <a:latin typeface="Tahoma"/>
                <a:ea typeface="Tahoma"/>
                <a:cs typeface="Tahoma"/>
              </a:rPr>
              <a:t>Архітектура системи</a:t>
            </a:r>
            <a:endParaRPr sz="5400" b="0" i="0">
              <a:solidFill>
                <a:srgbClr val="00206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612949086" name="Google Shape;141;p17"/>
          <p:cNvSpPr txBox="1"/>
          <p:nvPr/>
        </p:nvSpPr>
        <p:spPr bwMode="auto">
          <a:xfrm>
            <a:off x="571500" y="4286250"/>
            <a:ext cx="11049000" cy="861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 b="0" i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Клієнт-серверна модель з використанням REST API (JSON) для обміну даними.</a:t>
            </a:r>
            <a:endParaRPr sz="2800" b="0" i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505268808" name="Google Shape;142;p17"/>
          <p:cNvPicPr/>
          <p:nvPr/>
        </p:nvPicPr>
        <p:blipFill rotWithShape="1">
          <a:blip r:embed="rId5">
            <a:alphaModFix/>
          </a:blip>
          <a:srcRect t="288" b="278"/>
          <a:stretch/>
        </p:blipFill>
        <p:spPr bwMode="auto">
          <a:xfrm>
            <a:off x="3952875" y="2476500"/>
            <a:ext cx="4286400" cy="15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4710223" name="Google Shape;143;p17"/>
          <p:cNvSpPr txBox="1"/>
          <p:nvPr/>
        </p:nvSpPr>
        <p:spPr bwMode="auto">
          <a:xfrm>
            <a:off x="942975" y="57150"/>
            <a:ext cx="6162600" cy="924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47625" rIns="95250" bIns="476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НАЦІОНАЛЬНИЙ ТЕХНІЧНИЙ УНІВЕРСИТЕТ УКРАЇНИ</a:t>
            </a:r>
            <a:endParaRPr sz="1800" b="0" i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«КИЇВСЬКИЙ ПОЛІТЕХНІЧНИЙ ІНСТИТУТ</a:t>
            </a:r>
            <a:endParaRPr sz="1800" b="0" i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імені ІГОРЯ СІКОРСЬКОГО»</a:t>
            </a:r>
            <a:endParaRPr sz="1800" b="0" i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20256173" name="Google Shape;144;p17"/>
          <p:cNvSpPr txBox="1"/>
          <p:nvPr/>
        </p:nvSpPr>
        <p:spPr bwMode="auto">
          <a:xfrm>
            <a:off x="11153775" y="6353175"/>
            <a:ext cx="1000200" cy="43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47625" rIns="95250" bIns="476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2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6/17</a:t>
            </a:r>
            <a:endParaRPr sz="2200" b="0" i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168173" name="Google Shape;149;p18"/>
          <p:cNvSpPr/>
          <p:nvPr/>
        </p:nvSpPr>
        <p:spPr bwMode="auto">
          <a:xfrm>
            <a:off x="0" y="6333410"/>
            <a:ext cx="12192000" cy="5250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94254593" name="Google Shape;150;p18" descr="image.png"/>
          <p:cNvPicPr/>
          <p:nvPr/>
        </p:nvPicPr>
        <p:blipFill rotWithShape="1">
          <a:blip r:embed="rId3">
            <a:alphaModFix/>
          </a:blip>
          <a:srcRect/>
          <a:stretch/>
        </p:blipFill>
        <p:spPr bwMode="auto">
          <a:xfrm>
            <a:off x="6858000" y="1666875"/>
            <a:ext cx="4762500" cy="3619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7756685" name="Google Shape;151;p18"/>
          <p:cNvCxnSpPr/>
          <p:nvPr/>
        </p:nvCxnSpPr>
        <p:spPr bwMode="auto">
          <a:xfrm>
            <a:off x="0" y="6333401"/>
            <a:ext cx="12192000" cy="5250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1C39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31240840" name="Google Shape;152;p18"/>
          <p:cNvSpPr/>
          <p:nvPr/>
        </p:nvSpPr>
        <p:spPr bwMode="auto">
          <a:xfrm>
            <a:off x="0" y="0"/>
            <a:ext cx="12192000" cy="12066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184248927" name="Google Shape;153;p18"/>
          <p:cNvCxnSpPr/>
          <p:nvPr/>
        </p:nvCxnSpPr>
        <p:spPr bwMode="auto">
          <a:xfrm>
            <a:off x="0" y="0"/>
            <a:ext cx="12192000" cy="12066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19960320" name="Google Shape;154;p18"/>
          <p:cNvPicPr/>
          <p:nvPr/>
        </p:nvPicPr>
        <p:blipFill rotWithShape="1">
          <a:blip r:embed="rId4">
            <a:alphaModFix/>
          </a:blip>
          <a:srcRect t="80" b="78"/>
          <a:stretch/>
        </p:blipFill>
        <p:spPr bwMode="auto">
          <a:xfrm>
            <a:off x="107204" y="55999"/>
            <a:ext cx="731700" cy="10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9931880" name="Google Shape;155;p18"/>
          <p:cNvSpPr txBox="1"/>
          <p:nvPr/>
        </p:nvSpPr>
        <p:spPr bwMode="auto">
          <a:xfrm>
            <a:off x="857250" y="1333500"/>
            <a:ext cx="104775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Проєктування: Use Case</a:t>
            </a:r>
            <a:endParaRPr sz="3600" b="1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364223403" name="Google Shape;156;p18" descr="image.png"/>
          <p:cNvPicPr/>
          <p:nvPr/>
        </p:nvPicPr>
        <p:blipFill rotWithShape="1">
          <a:blip r:embed="rId5">
            <a:alphaModFix/>
          </a:blip>
          <a:srcRect/>
          <a:stretch/>
        </p:blipFill>
        <p:spPr bwMode="auto">
          <a:xfrm>
            <a:off x="6867524" y="1676400"/>
            <a:ext cx="47434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613298772" name="Google Shape;157;p18"/>
          <p:cNvSpPr txBox="1"/>
          <p:nvPr/>
        </p:nvSpPr>
        <p:spPr bwMode="auto">
          <a:xfrm>
            <a:off x="940525" y="54913"/>
            <a:ext cx="6165600" cy="9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НАЦІОНАЛЬНИЙ ТЕХНІЧНИЙ УНІВЕРСИТЕТ УКРАЇНИ</a:t>
            </a:r>
            <a:endParaRPr sz="18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«КИЇВСЬКИЙ ПОЛІТЕХНІЧНИЙ ІНСТИТУТ</a:t>
            </a:r>
            <a:endParaRPr sz="18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імені ІГОРЯ СІКОРСЬКОГО»</a:t>
            </a:r>
            <a:endParaRPr sz="18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2608098" name="Google Shape;158;p18"/>
          <p:cNvSpPr txBox="1"/>
          <p:nvPr/>
        </p:nvSpPr>
        <p:spPr bwMode="auto">
          <a:xfrm>
            <a:off x="11158347" y="6350232"/>
            <a:ext cx="10071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7/17</a:t>
            </a:r>
            <a:endParaRPr sz="24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0649576" name="Google Shape;159;p18"/>
          <p:cNvSpPr txBox="1"/>
          <p:nvPr/>
        </p:nvSpPr>
        <p:spPr bwMode="auto">
          <a:xfrm>
            <a:off x="762000" y="2095500"/>
            <a:ext cx="47625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750"/>
              </a:spcAft>
              <a:buNone/>
              <a:defRPr/>
            </a:pPr>
            <a:r>
              <a:rPr lang="en-US" sz="1800" b="1">
                <a:solidFill>
                  <a:srgbClr val="002060"/>
                </a:solidFill>
                <a:latin typeface="Open Sans"/>
                <a:ea typeface="Open Sans"/>
                <a:cs typeface="Open Sans"/>
              </a:rPr>
              <a:t>Користувач:</a:t>
            </a:r>
            <a:r>
              <a:rPr lang="en-US" sz="1800" b="0">
                <a:solidFill>
                  <a:srgbClr val="002060"/>
                </a:solidFill>
                <a:latin typeface="Open Sans"/>
                <a:ea typeface="Open Sans"/>
                <a:cs typeface="Open Sans"/>
              </a:rPr>
              <a:t> Реєстрація, перегляд каталогу, кошик, обране, відгуки.</a:t>
            </a:r>
            <a:endParaRPr sz="1800" b="1">
              <a:solidFill>
                <a:srgbClr val="00206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2133975393" name="Google Shape;160;p18"/>
          <p:cNvSpPr txBox="1"/>
          <p:nvPr/>
        </p:nvSpPr>
        <p:spPr bwMode="auto">
          <a:xfrm>
            <a:off x="762000" y="3048000"/>
            <a:ext cx="47625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750"/>
              </a:spcAft>
              <a:buNone/>
              <a:defRPr/>
            </a:pPr>
            <a:r>
              <a:rPr lang="en-US" sz="1800" b="1">
                <a:solidFill>
                  <a:srgbClr val="002060"/>
                </a:solidFill>
                <a:latin typeface="Open Sans"/>
                <a:ea typeface="Open Sans"/>
                <a:cs typeface="Open Sans"/>
              </a:rPr>
              <a:t>Адміністратор:</a:t>
            </a:r>
            <a:r>
              <a:rPr lang="en-US" sz="1800" b="0">
                <a:solidFill>
                  <a:srgbClr val="002060"/>
                </a:solidFill>
                <a:latin typeface="Open Sans"/>
                <a:ea typeface="Open Sans"/>
                <a:cs typeface="Open Sans"/>
              </a:rPr>
              <a:t> CRUD товарів, керування користувачами, модерація.</a:t>
            </a:r>
            <a:endParaRPr sz="1800" b="1">
              <a:solidFill>
                <a:srgbClr val="00206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345049765" name="Google Shape;161;p18"/>
          <p:cNvSpPr txBox="1"/>
          <p:nvPr/>
        </p:nvSpPr>
        <p:spPr bwMode="auto">
          <a:xfrm>
            <a:off x="762000" y="4000500"/>
            <a:ext cx="47625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1">
                <a:solidFill>
                  <a:srgbClr val="002060"/>
                </a:solidFill>
                <a:latin typeface="Open Sans"/>
                <a:ea typeface="Open Sans"/>
                <a:cs typeface="Open Sans"/>
              </a:rPr>
              <a:t>Система:</a:t>
            </a:r>
            <a:r>
              <a:rPr lang="en-US" sz="1800" b="0">
                <a:solidFill>
                  <a:srgbClr val="002060"/>
                </a:solidFill>
                <a:latin typeface="Open Sans"/>
                <a:ea typeface="Open Sans"/>
                <a:cs typeface="Open Sans"/>
              </a:rPr>
              <a:t> Відправка API-запитів до Telegram Bot.</a:t>
            </a:r>
            <a:endParaRPr sz="1800" b="1">
              <a:solidFill>
                <a:srgbClr val="002060"/>
              </a:solidFill>
              <a:latin typeface="Open Sans"/>
              <a:ea typeface="Open Sans"/>
              <a:cs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363052" name="Google Shape;166;p19"/>
          <p:cNvSpPr/>
          <p:nvPr/>
        </p:nvSpPr>
        <p:spPr bwMode="auto">
          <a:xfrm>
            <a:off x="0" y="6333410"/>
            <a:ext cx="12192000" cy="5250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110988758" name="Google Shape;167;p19"/>
          <p:cNvCxnSpPr/>
          <p:nvPr/>
        </p:nvCxnSpPr>
        <p:spPr bwMode="auto">
          <a:xfrm>
            <a:off x="0" y="6333401"/>
            <a:ext cx="12192000" cy="5250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1C39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56502520" name="Google Shape;168;p19"/>
          <p:cNvSpPr/>
          <p:nvPr/>
        </p:nvSpPr>
        <p:spPr bwMode="auto">
          <a:xfrm>
            <a:off x="0" y="0"/>
            <a:ext cx="12192000" cy="12066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846642997" name="Google Shape;169;p19"/>
          <p:cNvCxnSpPr/>
          <p:nvPr/>
        </p:nvCxnSpPr>
        <p:spPr bwMode="auto">
          <a:xfrm>
            <a:off x="0" y="0"/>
            <a:ext cx="12192000" cy="12066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00526818" name="Google Shape;170;p19"/>
          <p:cNvPicPr/>
          <p:nvPr/>
        </p:nvPicPr>
        <p:blipFill rotWithShape="1">
          <a:blip r:embed="rId4">
            <a:alphaModFix/>
          </a:blip>
          <a:srcRect t="80" b="78"/>
          <a:stretch/>
        </p:blipFill>
        <p:spPr bwMode="auto">
          <a:xfrm>
            <a:off x="107204" y="55999"/>
            <a:ext cx="731700" cy="1062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5787820" name="Google Shape;171;p19"/>
          <p:cNvGrpSpPr/>
          <p:nvPr/>
        </p:nvGrpSpPr>
        <p:grpSpPr bwMode="auto">
          <a:xfrm>
            <a:off x="940525" y="54913"/>
            <a:ext cx="6165600" cy="923400"/>
            <a:chOff x="940525" y="54913"/>
            <a:chExt cx="6165600" cy="923400"/>
          </a:xfrm>
        </p:grpSpPr>
        <p:sp>
          <p:nvSpPr>
            <p:cNvPr id="172" name="Google Shape;172;p19"/>
            <p:cNvSpPr/>
            <p:nvPr/>
          </p:nvSpPr>
          <p:spPr bwMode="auto">
            <a:xfrm>
              <a:off x="940525" y="54913"/>
              <a:ext cx="6165600" cy="92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73" name="Google Shape;173;p19"/>
            <p:cNvSpPr txBox="1"/>
            <p:nvPr/>
          </p:nvSpPr>
          <p:spPr bwMode="auto">
            <a:xfrm>
              <a:off x="940525" y="54913"/>
              <a:ext cx="61656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НАЦІОНАЛЬНИЙ ТЕХНІЧНИЙ УНІВЕРСИТЕТ УКРАЇНИ</a:t>
              </a: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«КИЇВСЬКИЙ ПОЛІТЕХНІЧНИЙ ІНСТИТУТ</a:t>
              </a: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імені ІГОРЯ СІКОРСЬКОГО»</a:t>
              </a: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396784981" name="Google Shape;174;p19"/>
          <p:cNvSpPr txBox="1"/>
          <p:nvPr/>
        </p:nvSpPr>
        <p:spPr bwMode="auto">
          <a:xfrm>
            <a:off x="571500" y="1206599"/>
            <a:ext cx="110490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800" b="0">
                <a:solidFill>
                  <a:srgbClr val="002060"/>
                </a:solidFill>
                <a:latin typeface="Tahoma"/>
                <a:ea typeface="Tahoma"/>
                <a:cs typeface="Tahoma"/>
              </a:rPr>
              <a:t>Структура бази даних (ER)</a:t>
            </a:r>
            <a:endParaRPr sz="4800" b="0">
              <a:solidFill>
                <a:srgbClr val="00206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102518193" name="Google Shape;176;p19"/>
          <p:cNvSpPr txBox="1"/>
          <p:nvPr/>
        </p:nvSpPr>
        <p:spPr bwMode="auto">
          <a:xfrm>
            <a:off x="571500" y="5810250"/>
            <a:ext cx="11049000" cy="27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002060"/>
                </a:solidFill>
                <a:latin typeface="Arial"/>
                <a:ea typeface="Arial"/>
                <a:cs typeface="Arial"/>
              </a:rPr>
              <a:t>5 основних таблиць: users, products, orders, favorites, reviews.</a:t>
            </a:r>
            <a:endParaRPr sz="1800">
              <a:solidFill>
                <a:srgbClr val="0020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85071801" name="Google Shape;177;p19"/>
          <p:cNvSpPr txBox="1"/>
          <p:nvPr/>
        </p:nvSpPr>
        <p:spPr bwMode="auto">
          <a:xfrm>
            <a:off x="10572750" y="6353175"/>
            <a:ext cx="14289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9525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</a:rPr>
              <a:t>8/17</a:t>
            </a:r>
            <a:endParaRPr sz="2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56749957" name="Рисунок 656749956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71500" y="1945499"/>
            <a:ext cx="11324169" cy="3651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531849" name="Google Shape;182;p20"/>
          <p:cNvSpPr/>
          <p:nvPr/>
        </p:nvSpPr>
        <p:spPr bwMode="auto">
          <a:xfrm>
            <a:off x="0" y="6333410"/>
            <a:ext cx="12192000" cy="5250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1344348273" name="Google Shape;183;p20"/>
          <p:cNvCxnSpPr/>
          <p:nvPr/>
        </p:nvCxnSpPr>
        <p:spPr bwMode="auto">
          <a:xfrm>
            <a:off x="0" y="6333401"/>
            <a:ext cx="12192000" cy="5250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1C39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46890643" name="Google Shape;184;p20"/>
          <p:cNvSpPr/>
          <p:nvPr/>
        </p:nvSpPr>
        <p:spPr bwMode="auto">
          <a:xfrm>
            <a:off x="0" y="0"/>
            <a:ext cx="12192000" cy="12066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1622939270" name="Google Shape;185;p20"/>
          <p:cNvCxnSpPr/>
          <p:nvPr/>
        </p:nvCxnSpPr>
        <p:spPr bwMode="auto">
          <a:xfrm>
            <a:off x="0" y="0"/>
            <a:ext cx="12192000" cy="12066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361901200" name="Google Shape;186;p20"/>
          <p:cNvPicPr/>
          <p:nvPr/>
        </p:nvPicPr>
        <p:blipFill rotWithShape="1">
          <a:blip r:embed="rId3">
            <a:alphaModFix/>
          </a:blip>
          <a:srcRect t="80" b="78"/>
          <a:stretch/>
        </p:blipFill>
        <p:spPr bwMode="auto">
          <a:xfrm>
            <a:off x="107204" y="55999"/>
            <a:ext cx="731700" cy="1062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1991262" name="Google Shape;187;p20"/>
          <p:cNvGrpSpPr/>
          <p:nvPr/>
        </p:nvGrpSpPr>
        <p:grpSpPr bwMode="auto">
          <a:xfrm>
            <a:off x="940525" y="54913"/>
            <a:ext cx="6165600" cy="923400"/>
            <a:chOff x="940525" y="54913"/>
            <a:chExt cx="6165600" cy="923400"/>
          </a:xfrm>
        </p:grpSpPr>
        <p:sp>
          <p:nvSpPr>
            <p:cNvPr id="188" name="Google Shape;188;p20"/>
            <p:cNvSpPr/>
            <p:nvPr/>
          </p:nvSpPr>
          <p:spPr bwMode="auto">
            <a:xfrm>
              <a:off x="940525" y="54913"/>
              <a:ext cx="6165600" cy="92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89" name="Google Shape;189;p20"/>
            <p:cNvSpPr txBox="1"/>
            <p:nvPr/>
          </p:nvSpPr>
          <p:spPr bwMode="auto">
            <a:xfrm>
              <a:off x="940525" y="54913"/>
              <a:ext cx="61656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НАЦІОНАЛЬНИЙ ТЕХНІЧНИЙ УНІВЕРСИТЕТ УКРАЇНИ</a:t>
              </a: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«КИЇВСЬКИЙ ПОЛІТЕХНІЧНИЙ ІНСТИТУТ</a:t>
              </a: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імені ІГОРЯ СІКОРСЬКОГО»</a:t>
              </a:r>
              <a:endParaRPr sz="1800">
                <a:solidFill>
                  <a:srgbClr val="FFFFFF"/>
                </a:solidFill>
                <a:latin typeface="Arial"/>
                <a:ea typeface="Arial"/>
                <a:cs typeface="Arial"/>
              </a:endParaRPr>
            </a:p>
          </p:txBody>
        </p:sp>
      </p:grpSp>
      <p:sp>
        <p:nvSpPr>
          <p:cNvPr id="1330740671" name="Google Shape;190;p20"/>
          <p:cNvSpPr txBox="1"/>
          <p:nvPr/>
        </p:nvSpPr>
        <p:spPr bwMode="auto">
          <a:xfrm>
            <a:off x="1524000" y="1524000"/>
            <a:ext cx="9144000" cy="67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400" b="1">
                <a:solidFill>
                  <a:srgbClr val="002060"/>
                </a:solidFill>
                <a:latin typeface="Tahoma"/>
                <a:ea typeface="Tahoma"/>
                <a:cs typeface="Tahoma"/>
              </a:rPr>
              <a:t>Вимоги до системи</a:t>
            </a:r>
            <a:endParaRPr sz="4400" b="1">
              <a:solidFill>
                <a:srgbClr val="002060"/>
              </a:solidFill>
              <a:latin typeface="Tahoma"/>
              <a:ea typeface="Tahoma"/>
              <a:cs typeface="Tahoma"/>
            </a:endParaRPr>
          </a:p>
        </p:txBody>
      </p:sp>
      <p:grpSp>
        <p:nvGrpSpPr>
          <p:cNvPr id="1492632914" name="Google Shape;191;p20"/>
          <p:cNvGrpSpPr/>
          <p:nvPr/>
        </p:nvGrpSpPr>
        <p:grpSpPr bwMode="auto">
          <a:xfrm>
            <a:off x="1524000" y="2667000"/>
            <a:ext cx="9144150" cy="2857500"/>
            <a:chOff x="1524000" y="2667000"/>
            <a:chExt cx="9144150" cy="2857500"/>
          </a:xfrm>
        </p:grpSpPr>
        <p:sp>
          <p:nvSpPr>
            <p:cNvPr id="192" name="Google Shape;192;p20"/>
            <p:cNvSpPr/>
            <p:nvPr/>
          </p:nvSpPr>
          <p:spPr bwMode="auto">
            <a:xfrm>
              <a:off x="1524000" y="2667000"/>
              <a:ext cx="4286400" cy="2857500"/>
            </a:xfrm>
            <a:prstGeom prst="roundRect">
              <a:avLst>
                <a:gd name="adj" fmla="val 3333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93" name="Google Shape;193;p20"/>
            <p:cNvSpPr/>
            <p:nvPr/>
          </p:nvSpPr>
          <p:spPr bwMode="auto">
            <a:xfrm>
              <a:off x="6381750" y="2667000"/>
              <a:ext cx="4286400" cy="2857500"/>
            </a:xfrm>
            <a:prstGeom prst="roundRect">
              <a:avLst>
                <a:gd name="adj" fmla="val 3333"/>
              </a:avLst>
            </a:prstGeom>
            <a:solidFill>
              <a:srgbClr val="F8FAFC"/>
            </a:solidFill>
            <a:ln w="9525" cap="flat" cmpd="sng">
              <a:solidFill>
                <a:srgbClr val="E2E8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/>
            </a:p>
          </p:txBody>
        </p:sp>
        <p:sp>
          <p:nvSpPr>
            <p:cNvPr id="194" name="Google Shape;194;p20"/>
            <p:cNvSpPr txBox="1"/>
            <p:nvPr/>
          </p:nvSpPr>
          <p:spPr bwMode="auto">
            <a:xfrm>
              <a:off x="1714500" y="2857500"/>
              <a:ext cx="39054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1800" b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Функціональні:</a:t>
              </a:r>
              <a:endParaRPr sz="1800" b="1">
                <a:solidFill>
                  <a:srgbClr val="002060"/>
                </a:solidFill>
                <a:latin typeface="Calibri"/>
                <a:ea typeface="Calibri"/>
                <a:cs typeface="Calibri"/>
              </a:endParaRPr>
            </a:p>
            <a:p>
              <a:pPr marL="457200" lvl="0" indent="-342900" algn="l" rtl="0">
                <a:spcBef>
                  <a:spcPts val="1125"/>
                </a:spcBef>
                <a:spcAft>
                  <a:spcPts val="0"/>
                </a:spcAft>
                <a:buClr>
                  <a:srgbClr val="1E293B"/>
                </a:buClr>
                <a:buSzPts val="1800"/>
                <a:buFont typeface="Calibri"/>
                <a:buChar char="●"/>
                <a:defRPr/>
              </a:pPr>
              <a:r>
                <a:rPr lang="en-US" sz="1800">
                  <a:solidFill>
                    <a:srgbClr val="1E293B"/>
                  </a:solidFill>
                  <a:latin typeface="Calibri"/>
                  <a:ea typeface="Calibri"/>
                  <a:cs typeface="Calibri"/>
                </a:rPr>
                <a:t>Авторизація та профілі.</a:t>
              </a:r>
              <a:endParaRPr sz="1800">
                <a:solidFill>
                  <a:srgbClr val="1E293B"/>
                </a:solidFill>
                <a:latin typeface="Calibri"/>
                <a:ea typeface="Calibri"/>
                <a:cs typeface="Calibri"/>
              </a:endParaRPr>
            </a:p>
            <a:p>
              <a:pPr marL="457200" lvl="0" indent="-342900" algn="l" rtl="0">
                <a:spcBef>
                  <a:spcPts val="750"/>
                </a:spcBef>
                <a:spcAft>
                  <a:spcPts val="0"/>
                </a:spcAft>
                <a:buClr>
                  <a:srgbClr val="1E293B"/>
                </a:buClr>
                <a:buSzPts val="1800"/>
                <a:buFont typeface="Calibri"/>
                <a:buChar char="●"/>
                <a:defRPr/>
              </a:pPr>
              <a:r>
                <a:rPr lang="en-US" sz="1800">
                  <a:solidFill>
                    <a:srgbClr val="1E293B"/>
                  </a:solidFill>
                  <a:latin typeface="Calibri"/>
                  <a:ea typeface="Calibri"/>
                  <a:cs typeface="Calibri"/>
                </a:rPr>
                <a:t>Фільтрація за категоріями.</a:t>
              </a:r>
              <a:endParaRPr sz="1800">
                <a:solidFill>
                  <a:srgbClr val="1E293B"/>
                </a:solidFill>
                <a:latin typeface="Calibri"/>
                <a:ea typeface="Calibri"/>
                <a:cs typeface="Calibri"/>
              </a:endParaRPr>
            </a:p>
            <a:p>
              <a:pPr marL="457200" lvl="0" indent="-342900" algn="l" rtl="0">
                <a:spcBef>
                  <a:spcPts val="750"/>
                </a:spcBef>
                <a:spcAft>
                  <a:spcPts val="0"/>
                </a:spcAft>
                <a:buClr>
                  <a:srgbClr val="1E293B"/>
                </a:buClr>
                <a:buSzPts val="1800"/>
                <a:buFont typeface="Calibri"/>
                <a:buChar char="●"/>
                <a:defRPr/>
              </a:pPr>
              <a:r>
                <a:rPr lang="en-US" sz="1800">
                  <a:solidFill>
                    <a:srgbClr val="1E293B"/>
                  </a:solidFill>
                  <a:latin typeface="Calibri"/>
                  <a:ea typeface="Calibri"/>
                  <a:cs typeface="Calibri"/>
                </a:rPr>
                <a:t>Система замовлень та кошик.</a:t>
              </a:r>
              <a:endParaRPr sz="1800">
                <a:solidFill>
                  <a:srgbClr val="1E293B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95" name="Google Shape;195;p20"/>
            <p:cNvSpPr txBox="1"/>
            <p:nvPr/>
          </p:nvSpPr>
          <p:spPr bwMode="auto">
            <a:xfrm>
              <a:off x="6572250" y="2857500"/>
              <a:ext cx="39054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r>
                <a:rPr lang="en-US" sz="1800" b="1">
                  <a:solidFill>
                    <a:srgbClr val="002060"/>
                  </a:solidFill>
                  <a:latin typeface="Calibri"/>
                  <a:ea typeface="Calibri"/>
                  <a:cs typeface="Calibri"/>
                </a:rPr>
                <a:t>Нефункціональні:</a:t>
              </a:r>
              <a:endParaRPr sz="1800" b="1">
                <a:solidFill>
                  <a:srgbClr val="002060"/>
                </a:solidFill>
                <a:latin typeface="Calibri"/>
                <a:ea typeface="Calibri"/>
                <a:cs typeface="Calibri"/>
              </a:endParaRPr>
            </a:p>
            <a:p>
              <a:pPr marL="457200" lvl="0" indent="-342900" algn="l" rtl="0">
                <a:spcBef>
                  <a:spcPts val="1125"/>
                </a:spcBef>
                <a:spcAft>
                  <a:spcPts val="0"/>
                </a:spcAft>
                <a:buClr>
                  <a:srgbClr val="1E293B"/>
                </a:buClr>
                <a:buSzPts val="1800"/>
                <a:buFont typeface="Calibri"/>
                <a:buChar char="●"/>
                <a:defRPr/>
              </a:pPr>
              <a:r>
                <a:rPr lang="en-US" sz="1800">
                  <a:solidFill>
                    <a:srgbClr val="1E293B"/>
                  </a:solidFill>
                  <a:latin typeface="Calibri"/>
                  <a:ea typeface="Calibri"/>
                  <a:cs typeface="Calibri"/>
                </a:rPr>
                <a:t>Адаптивність (Mobile First).</a:t>
              </a:r>
              <a:endParaRPr sz="1800">
                <a:solidFill>
                  <a:srgbClr val="1E293B"/>
                </a:solidFill>
                <a:latin typeface="Calibri"/>
                <a:ea typeface="Calibri"/>
                <a:cs typeface="Calibri"/>
              </a:endParaRPr>
            </a:p>
            <a:p>
              <a:pPr marL="457200" lvl="0" indent="-342900" algn="l" rtl="0">
                <a:spcBef>
                  <a:spcPts val="750"/>
                </a:spcBef>
                <a:spcAft>
                  <a:spcPts val="0"/>
                </a:spcAft>
                <a:buClr>
                  <a:srgbClr val="1E293B"/>
                </a:buClr>
                <a:buSzPts val="1800"/>
                <a:buFont typeface="Calibri"/>
                <a:buChar char="●"/>
                <a:defRPr/>
              </a:pPr>
              <a:r>
                <a:rPr lang="en-US" sz="1800">
                  <a:solidFill>
                    <a:srgbClr val="1E293B"/>
                  </a:solidFill>
                  <a:latin typeface="Calibri"/>
                  <a:ea typeface="Calibri"/>
                  <a:cs typeface="Calibri"/>
                </a:rPr>
                <a:t>Підтримка темної теми.</a:t>
              </a:r>
              <a:endParaRPr sz="1800">
                <a:solidFill>
                  <a:srgbClr val="1E293B"/>
                </a:solidFill>
                <a:latin typeface="Calibri"/>
                <a:ea typeface="Calibri"/>
                <a:cs typeface="Calibri"/>
              </a:endParaRPr>
            </a:p>
            <a:p>
              <a:pPr marL="457200" lvl="0" indent="-342900" algn="l" rtl="0">
                <a:spcBef>
                  <a:spcPts val="750"/>
                </a:spcBef>
                <a:spcAft>
                  <a:spcPts val="0"/>
                </a:spcAft>
                <a:buClr>
                  <a:srgbClr val="1E293B"/>
                </a:buClr>
                <a:buSzPts val="1800"/>
                <a:buFont typeface="Calibri"/>
                <a:buChar char="●"/>
                <a:defRPr/>
              </a:pPr>
              <a:r>
                <a:rPr lang="en-US" sz="1800">
                  <a:solidFill>
                    <a:srgbClr val="1E293B"/>
                  </a:solidFill>
                  <a:latin typeface="Calibri"/>
                  <a:ea typeface="Calibri"/>
                  <a:cs typeface="Calibri"/>
                </a:rPr>
                <a:t>Захист від SQL Injection.</a:t>
              </a:r>
              <a:endParaRPr sz="1800">
                <a:solidFill>
                  <a:srgbClr val="1E293B"/>
                </a:solidFill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678129784" name="Google Shape;196;p20"/>
          <p:cNvSpPr txBox="1"/>
          <p:nvPr/>
        </p:nvSpPr>
        <p:spPr bwMode="auto">
          <a:xfrm>
            <a:off x="11158347" y="6350232"/>
            <a:ext cx="10071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</a:rPr>
              <a:t>9/17</a:t>
            </a:r>
            <a:endParaRPr sz="2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4667329" name="Google Shape;201;p21"/>
          <p:cNvSpPr/>
          <p:nvPr/>
        </p:nvSpPr>
        <p:spPr bwMode="auto">
          <a:xfrm>
            <a:off x="0" y="6334125"/>
            <a:ext cx="12192000" cy="5238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1043983391" name="Google Shape;202;p21"/>
          <p:cNvCxnSpPr/>
          <p:nvPr/>
        </p:nvCxnSpPr>
        <p:spPr bwMode="auto">
          <a:xfrm>
            <a:off x="0" y="6334125"/>
            <a:ext cx="12192000" cy="5238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1C39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11099194" name="Google Shape;203;p21"/>
          <p:cNvSpPr/>
          <p:nvPr/>
        </p:nvSpPr>
        <p:spPr bwMode="auto">
          <a:xfrm>
            <a:off x="0" y="0"/>
            <a:ext cx="12192000" cy="12096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796370998" name="Google Shape;204;p21"/>
          <p:cNvCxnSpPr/>
          <p:nvPr/>
        </p:nvCxnSpPr>
        <p:spPr bwMode="auto">
          <a:xfrm>
            <a:off x="0" y="0"/>
            <a:ext cx="12192000" cy="12096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1828884" name="Google Shape;205;p21"/>
          <p:cNvPicPr/>
          <p:nvPr/>
        </p:nvPicPr>
        <p:blipFill rotWithShape="1">
          <a:blip r:embed="rId4">
            <a:alphaModFix/>
          </a:blip>
          <a:srcRect/>
          <a:stretch/>
        </p:blipFill>
        <p:spPr bwMode="auto">
          <a:xfrm>
            <a:off x="104775" y="57150"/>
            <a:ext cx="7335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0552044" name="Google Shape;206;p21"/>
          <p:cNvSpPr txBox="1"/>
          <p:nvPr/>
        </p:nvSpPr>
        <p:spPr bwMode="auto">
          <a:xfrm>
            <a:off x="1333500" y="1428750"/>
            <a:ext cx="95250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800" b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Реалізація: Backend</a:t>
            </a:r>
            <a:endParaRPr sz="4800" b="1">
              <a:solidFill>
                <a:srgbClr val="FFFFFF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28118704" name="Google Shape;207;p21"/>
          <p:cNvSpPr txBox="1"/>
          <p:nvPr/>
        </p:nvSpPr>
        <p:spPr bwMode="auto">
          <a:xfrm>
            <a:off x="11153775" y="6353175"/>
            <a:ext cx="10098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10/17</a:t>
            </a:r>
            <a:endParaRPr sz="24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05309" name="Google Shape;208;p21"/>
          <p:cNvSpPr txBox="1"/>
          <p:nvPr/>
        </p:nvSpPr>
        <p:spPr bwMode="auto">
          <a:xfrm>
            <a:off x="942975" y="57150"/>
            <a:ext cx="6162600" cy="927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5250" tIns="47625" rIns="95250" bIns="476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НАЦІОНАЛЬНИЙ ТЕХНІЧНИЙ УНІВЕРСИТЕТ УКРАЇНИ</a:t>
            </a:r>
            <a:endParaRPr sz="18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«КИЇВСЬКИЙ ПОЛІТЕХНІЧНИЙ ІНСТИТУТ</a:t>
            </a:r>
            <a:endParaRPr sz="18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імені ІГОРЯ СІКОРСЬКОГО»</a:t>
            </a:r>
            <a:endParaRPr sz="18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87465995" name="Google Shape;209;p21"/>
          <p:cNvSpPr txBox="1"/>
          <p:nvPr/>
        </p:nvSpPr>
        <p:spPr bwMode="auto">
          <a:xfrm>
            <a:off x="952500" y="2857500"/>
            <a:ext cx="102870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500"/>
              </a:spcAft>
              <a:buNone/>
              <a:defRPr/>
            </a:pPr>
            <a:r>
              <a:rPr lang="en-US" sz="240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Серверна частина на базі </a:t>
            </a:r>
            <a:r>
              <a:rPr lang="en-US" sz="2400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Express.js</a:t>
            </a:r>
            <a:r>
              <a:rPr lang="en-US" sz="240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з підтримкою REST API та пулом підключень MySQL.</a:t>
            </a:r>
            <a:endParaRPr sz="2400" b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122570989" name="Рисунок 2122570988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71550" y="3827574"/>
            <a:ext cx="10248898" cy="1885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315763" name="Google Shape;215;p22"/>
          <p:cNvSpPr/>
          <p:nvPr/>
        </p:nvSpPr>
        <p:spPr bwMode="auto">
          <a:xfrm>
            <a:off x="0" y="0"/>
            <a:ext cx="12192000" cy="12066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241887186" name="Google Shape;216;p22"/>
          <p:cNvSpPr/>
          <p:nvPr/>
        </p:nvSpPr>
        <p:spPr bwMode="auto">
          <a:xfrm>
            <a:off x="0" y="6333410"/>
            <a:ext cx="12192000" cy="5250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921903098" name="Google Shape;217;p22"/>
          <p:cNvPicPr/>
          <p:nvPr/>
        </p:nvPicPr>
        <p:blipFill rotWithShape="1">
          <a:blip r:embed="rId3">
            <a:alphaModFix/>
          </a:blip>
          <a:srcRect t="80" b="78"/>
          <a:stretch/>
        </p:blipFill>
        <p:spPr bwMode="auto">
          <a:xfrm>
            <a:off x="107204" y="55997"/>
            <a:ext cx="731700" cy="10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0636119" name="Google Shape;218;p22"/>
          <p:cNvSpPr txBox="1"/>
          <p:nvPr/>
        </p:nvSpPr>
        <p:spPr bwMode="auto">
          <a:xfrm>
            <a:off x="940518" y="54912"/>
            <a:ext cx="6165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НАЦІОНАЛЬНИЙ ТЕХНІЧНИЙ УНІВЕРСИТЕТ УКРАЇНИ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«КИЇВСЬКИЙ ПОЛІТЕХНІЧНИЙ ІНСТИТУТ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імені ІГОРЯ СІКОРСЬКОГО»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689119" name="Google Shape;219;p22"/>
          <p:cNvSpPr txBox="1"/>
          <p:nvPr/>
        </p:nvSpPr>
        <p:spPr bwMode="auto">
          <a:xfrm>
            <a:off x="762000" y="1333500"/>
            <a:ext cx="106680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800" b="1">
                <a:solidFill>
                  <a:srgbClr val="1F3864"/>
                </a:solidFill>
                <a:latin typeface="Tahoma"/>
                <a:ea typeface="Tahoma"/>
                <a:cs typeface="Tahoma"/>
              </a:rPr>
              <a:t>Інтерфейс користувача</a:t>
            </a:r>
            <a:endParaRPr sz="4800" b="1">
              <a:solidFill>
                <a:srgbClr val="1F3864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574815020" name="Google Shape;221;p22"/>
          <p:cNvSpPr txBox="1"/>
          <p:nvPr/>
        </p:nvSpPr>
        <p:spPr bwMode="auto">
          <a:xfrm>
            <a:off x="6477000" y="2286000"/>
            <a:ext cx="5143500" cy="34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Open Sans"/>
              <a:buChar char="●"/>
              <a:defRPr/>
            </a:pPr>
            <a:r>
              <a:rPr lang="en-US" sz="2200">
                <a:solidFill>
                  <a:srgbClr val="334155"/>
                </a:solidFill>
                <a:latin typeface="Open Sans"/>
                <a:ea typeface="Open Sans"/>
                <a:cs typeface="Open Sans"/>
              </a:rPr>
              <a:t>Hero-секція з CTA-кнопками.</a:t>
            </a:r>
            <a:endParaRPr sz="2200">
              <a:solidFill>
                <a:srgbClr val="334155"/>
              </a:solidFill>
              <a:latin typeface="Open Sans"/>
              <a:ea typeface="Open Sans"/>
              <a:cs typeface="Open Sans"/>
            </a:endParaRPr>
          </a:p>
          <a:p>
            <a:pPr marL="457200" lvl="0" indent="-368300" algn="l" rtl="0">
              <a:spcBef>
                <a:spcPts val="150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Open Sans"/>
              <a:buChar char="●"/>
              <a:defRPr/>
            </a:pPr>
            <a:r>
              <a:rPr lang="en-US" sz="2200">
                <a:solidFill>
                  <a:srgbClr val="334155"/>
                </a:solidFill>
                <a:latin typeface="Open Sans"/>
                <a:ea typeface="Open Sans"/>
                <a:cs typeface="Open Sans"/>
              </a:rPr>
              <a:t>Динамічне завантаження товарів.</a:t>
            </a:r>
            <a:endParaRPr sz="2200">
              <a:solidFill>
                <a:srgbClr val="334155"/>
              </a:solidFill>
              <a:latin typeface="Open Sans"/>
              <a:ea typeface="Open Sans"/>
              <a:cs typeface="Open Sans"/>
            </a:endParaRPr>
          </a:p>
          <a:p>
            <a:pPr marL="457200" lvl="0" indent="-368300" algn="l" rtl="0">
              <a:spcBef>
                <a:spcPts val="150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Open Sans"/>
              <a:buChar char="●"/>
              <a:defRPr/>
            </a:pPr>
            <a:r>
              <a:rPr lang="en-US" sz="2200">
                <a:solidFill>
                  <a:srgbClr val="334155"/>
                </a:solidFill>
                <a:latin typeface="Open Sans"/>
                <a:ea typeface="Open Sans"/>
                <a:cs typeface="Open Sans"/>
              </a:rPr>
              <a:t>Інтуїтивний кошик-модалка.</a:t>
            </a:r>
            <a:endParaRPr sz="2200">
              <a:solidFill>
                <a:srgbClr val="334155"/>
              </a:solidFill>
              <a:latin typeface="Open Sans"/>
              <a:ea typeface="Open Sans"/>
              <a:cs typeface="Open Sans"/>
            </a:endParaRPr>
          </a:p>
          <a:p>
            <a:pPr marL="457200" lvl="0" indent="-368300" algn="l" rtl="0">
              <a:spcBef>
                <a:spcPts val="1500"/>
              </a:spcBef>
              <a:spcAft>
                <a:spcPts val="0"/>
              </a:spcAft>
              <a:buClr>
                <a:srgbClr val="334155"/>
              </a:buClr>
              <a:buSzPts val="2200"/>
              <a:buFont typeface="Open Sans"/>
              <a:buChar char="●"/>
              <a:defRPr/>
            </a:pPr>
            <a:r>
              <a:rPr lang="en-US" sz="2200">
                <a:solidFill>
                  <a:srgbClr val="334155"/>
                </a:solidFill>
                <a:latin typeface="Open Sans"/>
                <a:ea typeface="Open Sans"/>
                <a:cs typeface="Open Sans"/>
              </a:rPr>
              <a:t>Система зміни тем оформлення.</a:t>
            </a:r>
            <a:endParaRPr sz="2200">
              <a:solidFill>
                <a:srgbClr val="334155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496008012" name="Google Shape;222;p22"/>
          <p:cNvSpPr txBox="1"/>
          <p:nvPr/>
        </p:nvSpPr>
        <p:spPr bwMode="auto">
          <a:xfrm>
            <a:off x="11158347" y="6350222"/>
            <a:ext cx="1006799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</a:rPr>
              <a:t>11/17</a:t>
            </a:r>
            <a:endParaRPr sz="2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9868005-0002-42C7-B28C-737C9BCE6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470" y="2285999"/>
            <a:ext cx="6107530" cy="36703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1053786" name="Google Shape;227;p23"/>
          <p:cNvSpPr/>
          <p:nvPr/>
        </p:nvSpPr>
        <p:spPr bwMode="auto">
          <a:xfrm>
            <a:off x="0" y="6334125"/>
            <a:ext cx="12192000" cy="5238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47787385" name="Google Shape;228;p23"/>
          <p:cNvSpPr/>
          <p:nvPr/>
        </p:nvSpPr>
        <p:spPr bwMode="auto">
          <a:xfrm>
            <a:off x="0" y="0"/>
            <a:ext cx="12192000" cy="12096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920937827" name="Google Shape;229;p23"/>
          <p:cNvPicPr/>
          <p:nvPr/>
        </p:nvPicPr>
        <p:blipFill rotWithShape="1">
          <a:blip r:embed="rId4">
            <a:alphaModFix/>
          </a:blip>
          <a:srcRect/>
          <a:stretch/>
        </p:blipFill>
        <p:spPr bwMode="auto">
          <a:xfrm>
            <a:off x="104775" y="57150"/>
            <a:ext cx="7335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6947585" name="Google Shape;230;p23"/>
          <p:cNvSpPr txBox="1"/>
          <p:nvPr/>
        </p:nvSpPr>
        <p:spPr bwMode="auto">
          <a:xfrm>
            <a:off x="1047750" y="1524000"/>
            <a:ext cx="10477500" cy="569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700" b="1">
                <a:solidFill>
                  <a:srgbClr val="002060"/>
                </a:solidFill>
                <a:latin typeface="Tahoma"/>
                <a:ea typeface="Tahoma"/>
                <a:cs typeface="Tahoma"/>
              </a:rPr>
              <a:t>Інтеграція: Telegram Bot API</a:t>
            </a:r>
            <a:endParaRPr sz="3700" b="1">
              <a:solidFill>
                <a:srgbClr val="00206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629251025" name="Google Shape;231;p23"/>
          <p:cNvSpPr txBox="1"/>
          <p:nvPr/>
        </p:nvSpPr>
        <p:spPr bwMode="auto">
          <a:xfrm>
            <a:off x="857250" y="2286000"/>
            <a:ext cx="10477500" cy="167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Автоматизація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бізнес-процесів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:</a:t>
            </a:r>
            <a:endParaRPr sz="2400" b="0" dirty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  <a:defRPr/>
            </a:pP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Миттєві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деталі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замовлення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менеджеру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sz="2400" b="0" dirty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0" lvl="0" indent="0" algn="ctr" rtl="0">
              <a:spcBef>
                <a:spcPts val="375"/>
              </a:spcBef>
              <a:spcAft>
                <a:spcPts val="0"/>
              </a:spcAft>
              <a:buNone/>
              <a:defRPr/>
            </a:pP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Чат-бот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консультант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на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сайті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sz="2400" b="0" dirty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0" lvl="0" indent="0" algn="ctr" rtl="0">
              <a:spcBef>
                <a:spcPts val="375"/>
              </a:spcBef>
              <a:spcAft>
                <a:spcPts val="0"/>
              </a:spcAft>
              <a:buNone/>
              <a:defRPr/>
            </a:pP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Швидкість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реакції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&lt; 2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хв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sz="2400" b="0" dirty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046532" name="Google Shape;232;p23"/>
          <p:cNvSpPr txBox="1"/>
          <p:nvPr/>
        </p:nvSpPr>
        <p:spPr bwMode="auto">
          <a:xfrm>
            <a:off x="11153775" y="6353175"/>
            <a:ext cx="10098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13/17</a:t>
            </a:r>
            <a:endParaRPr sz="24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3949002" name="Google Shape;233;p23"/>
          <p:cNvSpPr txBox="1"/>
          <p:nvPr/>
        </p:nvSpPr>
        <p:spPr bwMode="auto">
          <a:xfrm>
            <a:off x="942975" y="57150"/>
            <a:ext cx="6162600" cy="83129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НАЦІОНАЛЬНИЙ ТЕХНІЧНИЙ УНІВЕРСИТЕТ УКРАЇНИ</a:t>
            </a:r>
            <a:endParaRPr sz="18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«КИЇВСЬКИЙ ПОЛІТЕХНІЧНИЙ ІНСТИТУТ</a:t>
            </a:r>
            <a:endParaRPr sz="18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імені ІГОРЯ СІКОРСЬКОГО»</a:t>
            </a:r>
            <a:endParaRPr sz="18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blipFill rotWithShape="1">
          <a:blip r:embed="rId3">
            <a:alphaModFix/>
          </a:blip>
          <a:stretch/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410911" name="Google Shape;238;p24"/>
          <p:cNvSpPr/>
          <p:nvPr/>
        </p:nvSpPr>
        <p:spPr bwMode="auto">
          <a:xfrm>
            <a:off x="0" y="6334125"/>
            <a:ext cx="12192000" cy="5238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32319084" name="Google Shape;239;p24"/>
          <p:cNvSpPr/>
          <p:nvPr/>
        </p:nvSpPr>
        <p:spPr bwMode="auto">
          <a:xfrm>
            <a:off x="0" y="0"/>
            <a:ext cx="12192000" cy="12096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1143624186" name="Google Shape;240;p24"/>
          <p:cNvCxnSpPr/>
          <p:nvPr/>
        </p:nvCxnSpPr>
        <p:spPr bwMode="auto">
          <a:xfrm>
            <a:off x="0" y="6334125"/>
            <a:ext cx="121920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1C396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2404859" name="Google Shape;241;p24"/>
          <p:cNvCxnSpPr/>
          <p:nvPr/>
        </p:nvCxnSpPr>
        <p:spPr bwMode="auto">
          <a:xfrm>
            <a:off x="0" y="1209675"/>
            <a:ext cx="12192000" cy="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76100152" name="Google Shape;242;p24"/>
          <p:cNvPicPr/>
          <p:nvPr/>
        </p:nvPicPr>
        <p:blipFill rotWithShape="1">
          <a:blip r:embed="rId4">
            <a:alphaModFix/>
          </a:blip>
          <a:srcRect/>
          <a:stretch/>
        </p:blipFill>
        <p:spPr bwMode="auto">
          <a:xfrm>
            <a:off x="104775" y="57150"/>
            <a:ext cx="7335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616017474" name="Google Shape;243;p24"/>
          <p:cNvSpPr txBox="1"/>
          <p:nvPr/>
        </p:nvSpPr>
        <p:spPr bwMode="auto">
          <a:xfrm>
            <a:off x="952500" y="2233612"/>
            <a:ext cx="10668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97269278" name="Google Shape;244;p24"/>
          <p:cNvSpPr txBox="1"/>
          <p:nvPr/>
        </p:nvSpPr>
        <p:spPr bwMode="auto">
          <a:xfrm>
            <a:off x="952500" y="95250"/>
            <a:ext cx="6667500" cy="83129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НАЦІОНАЛЬНИЙ ТЕХНІЧНИЙ УНІВЕРСИТЕТ УКРАЇНИ</a:t>
            </a:r>
            <a:endParaRPr sz="18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«КИЇВСЬКИЙ ПОЛІТЕХНІЧНИЙ ІНСТИТУТ</a:t>
            </a:r>
            <a:endParaRPr sz="18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імені</a:t>
            </a:r>
            <a:r>
              <a:rPr lang="en-US" sz="18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ІГОРЯ СІКОРСЬКОГО»</a:t>
            </a:r>
            <a:endParaRPr sz="18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9913481" name="Google Shape;245;p24"/>
          <p:cNvSpPr txBox="1"/>
          <p:nvPr/>
        </p:nvSpPr>
        <p:spPr bwMode="auto">
          <a:xfrm>
            <a:off x="762000" y="1428750"/>
            <a:ext cx="10668000" cy="73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4800" b="1">
                <a:solidFill>
                  <a:srgbClr val="1C396E"/>
                </a:solidFill>
                <a:latin typeface="Tahoma"/>
                <a:ea typeface="Tahoma"/>
                <a:cs typeface="Tahoma"/>
              </a:rPr>
              <a:t>Адміністративна панель</a:t>
            </a:r>
            <a:endParaRPr sz="4800" b="1">
              <a:solidFill>
                <a:srgbClr val="1C396E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82447677" name="Google Shape;246;p24"/>
          <p:cNvSpPr txBox="1"/>
          <p:nvPr/>
        </p:nvSpPr>
        <p:spPr bwMode="auto">
          <a:xfrm>
            <a:off x="762000" y="2602838"/>
            <a:ext cx="10668000" cy="205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Керування асортиментом (Додавання/Редагування).</a:t>
            </a:r>
            <a:endParaRPr sz="2400" b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0" lvl="0" indent="0" algn="ctr" rtl="0">
              <a:spcBef>
                <a:spcPts val="1500"/>
              </a:spcBef>
              <a:spcAft>
                <a:spcPts val="0"/>
              </a:spcAft>
              <a:buNone/>
              <a:defRPr/>
            </a:pPr>
            <a:r>
              <a:rPr lang="en-US" sz="240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Редагування знижок та ролей користувачів.</a:t>
            </a:r>
            <a:endParaRPr sz="2400" b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0" lvl="0" indent="0" algn="ctr" rtl="0">
              <a:spcBef>
                <a:spcPts val="1500"/>
              </a:spcBef>
              <a:spcAft>
                <a:spcPts val="0"/>
              </a:spcAft>
              <a:buNone/>
              <a:defRPr/>
            </a:pPr>
            <a:r>
              <a:rPr lang="en-US" sz="240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Модерація (видалення) відгуків.</a:t>
            </a:r>
            <a:endParaRPr sz="2400" b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0" lvl="0" indent="0" algn="ctr" rtl="0">
              <a:spcBef>
                <a:spcPts val="1500"/>
              </a:spcBef>
              <a:spcAft>
                <a:spcPts val="0"/>
              </a:spcAft>
              <a:buNone/>
              <a:defRPr/>
            </a:pPr>
            <a:r>
              <a:rPr lang="en-US" sz="2400" b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Статистика замовлень у реальному часі.</a:t>
            </a:r>
            <a:endParaRPr sz="2400" b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4680140" name="Google Shape;247;p24"/>
          <p:cNvSpPr txBox="1"/>
          <p:nvPr/>
        </p:nvSpPr>
        <p:spPr bwMode="auto">
          <a:xfrm>
            <a:off x="10096500" y="6353175"/>
            <a:ext cx="1905000" cy="36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12/17</a:t>
            </a:r>
            <a:endParaRPr sz="24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513671" name="Google Shape;252;p25"/>
          <p:cNvSpPr txBox="1"/>
          <p:nvPr/>
        </p:nvSpPr>
        <p:spPr bwMode="auto">
          <a:xfrm>
            <a:off x="571499" y="1140772"/>
            <a:ext cx="11401425" cy="854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5550" b="1" i="0" u="none" strike="noStrike" cap="none" dirty="0" err="1">
                <a:solidFill>
                  <a:srgbClr val="0F172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Тестування</a:t>
            </a:r>
            <a:r>
              <a:rPr lang="en-US" sz="5550" b="1" i="0" u="none" strike="noStrike" cap="none" dirty="0">
                <a:solidFill>
                  <a:srgbClr val="0F172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550" b="1" i="0" u="none" strike="noStrike" cap="none" dirty="0" err="1">
                <a:solidFill>
                  <a:srgbClr val="0F172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та</a:t>
            </a:r>
            <a:r>
              <a:rPr lang="en-US" sz="5550" b="1" i="0" u="none" strike="noStrike" cap="none" dirty="0">
                <a:solidFill>
                  <a:srgbClr val="0F172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5550" b="1" i="0" u="none" strike="noStrike" cap="none" dirty="0" err="1">
                <a:solidFill>
                  <a:srgbClr val="0F172A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верифікація</a:t>
            </a:r>
            <a:endParaRPr sz="55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43119914" name="Google Shape;256;p25"/>
          <p:cNvSpPr txBox="1"/>
          <p:nvPr/>
        </p:nvSpPr>
        <p:spPr bwMode="auto">
          <a:xfrm>
            <a:off x="571499" y="1990713"/>
            <a:ext cx="1104900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1" i="0" u="none" strike="noStrike" cap="none" dirty="0" err="1">
                <a:solidFill>
                  <a:srgbClr val="334155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</a:rPr>
              <a:t>Методи</a:t>
            </a:r>
            <a:r>
              <a:rPr lang="en-US" sz="2400" b="1" i="0" u="none" strike="noStrike" cap="none" dirty="0">
                <a:solidFill>
                  <a:srgbClr val="334155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</a:rPr>
              <a:t> </a:t>
            </a:r>
            <a:r>
              <a:rPr lang="en-US" sz="2400" b="1" i="0" u="none" strike="noStrike" cap="none" dirty="0" err="1">
                <a:solidFill>
                  <a:srgbClr val="334155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</a:rPr>
              <a:t>тестування</a:t>
            </a:r>
            <a:r>
              <a:rPr lang="en-US" sz="2400" b="1" i="0" u="none" strike="noStrike" cap="none" dirty="0">
                <a:solidFill>
                  <a:srgbClr val="334155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</a:rPr>
              <a:t>: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</a:rPr>
              <a:t>Модульне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</a:rPr>
              <a:t> (Unit),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</a:rPr>
              <a:t>інтеграційне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</a:rPr>
              <a:t>та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</a:rPr>
              <a:t> </a:t>
            </a:r>
            <a:r>
              <a:rPr lang="en-US" sz="2400" b="0" i="0" u="none" strike="noStrike" cap="none" dirty="0" err="1">
                <a:solidFill>
                  <a:srgbClr val="334155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</a:rPr>
              <a:t>системне</a:t>
            </a:r>
            <a:r>
              <a:rPr lang="en-US" sz="2400" b="0" i="0" u="none" strike="noStrike" cap="none" dirty="0">
                <a:solidFill>
                  <a:srgbClr val="334155"/>
                </a:solidFill>
                <a:latin typeface="Calibri" panose="020F0502020204030204" pitchFamily="34" charset="0"/>
                <a:ea typeface="Open Sans"/>
                <a:cs typeface="Calibri" panose="020F0502020204030204" pitchFamily="34" charset="0"/>
              </a:rPr>
              <a:t> (User Scenarios).</a:t>
            </a:r>
            <a:endParaRPr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17041563" name="Google Shape;257;p2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2923058"/>
              </p:ext>
            </p:extLst>
          </p:nvPr>
        </p:nvGraphicFramePr>
        <p:xfrm>
          <a:off x="571499" y="2631735"/>
          <a:ext cx="11049000" cy="3157513"/>
        </p:xfrm>
        <a:graphic>
          <a:graphicData uri="http://schemas.openxmlformats.org/drawingml/2006/table">
            <a:tbl>
              <a:tblPr firstRow="1" bandRow="1">
                <a:tableStyleId>{D72196F1-986D-4F49-808C-44583FBEE78F}</a:tableStyleId>
              </a:tblPr>
              <a:tblGrid>
                <a:gridCol w="402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626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400" b="1" i="0" u="none" strike="noStrike" cap="none" dirty="0" err="1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</a:rPr>
                        <a:t>Модуль</a:t>
                      </a:r>
                      <a:endParaRPr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400" b="1" i="0" u="none" strike="noStrike" cap="none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</a:rPr>
                        <a:t>Метод</a:t>
                      </a:r>
                      <a:endParaRPr sz="2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400" b="1" i="0" u="none" strike="noStrike" cap="none" dirty="0" err="1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Open Sans"/>
                          <a:cs typeface="Calibri" panose="020F0502020204030204" pitchFamily="34" charset="0"/>
                        </a:rPr>
                        <a:t>Результат</a:t>
                      </a:r>
                      <a:endParaRPr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400" b="0" i="0" u="none" strike="noStrike" cap="none" dirty="0" err="1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Авторизація</a:t>
                      </a:r>
                      <a:endParaRPr sz="2400" dirty="0"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400" b="0" i="0" u="none" strike="noStrike" cap="none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Boundary Testing</a:t>
                      </a:r>
                      <a:endParaRPr sz="2400" dirty="0"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400" b="0" i="0" u="none" strike="noStrike" cap="none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PASS</a:t>
                      </a:r>
                      <a:endParaRPr sz="2400"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Telegram API / </a:t>
                      </a:r>
                      <a:r>
                        <a:rPr lang="uk-UA" sz="2400" dirty="0"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Чат-бот</a:t>
                      </a:r>
                      <a:endParaRPr sz="2400" dirty="0"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System Test</a:t>
                      </a:r>
                      <a:endParaRPr lang="uk-UA" sz="2400" dirty="0"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400" b="0" i="0" u="none" strike="noStrike" cap="none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PASS</a:t>
                      </a:r>
                      <a:endParaRPr sz="2400"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uk-UA" sz="2400" dirty="0"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Знижки / Обране</a:t>
                      </a:r>
                      <a:endParaRPr sz="2400" dirty="0"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Logic Verification</a:t>
                      </a:r>
                      <a:endParaRPr sz="2400" dirty="0"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400" b="0" i="0" u="none" strike="noStrike" cap="none" dirty="0">
                          <a:solidFill>
                            <a:srgbClr val="334155"/>
                          </a:solidFill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PASS</a:t>
                      </a:r>
                      <a:endParaRPr sz="2400" dirty="0"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MySQL / </a:t>
                      </a:r>
                      <a:r>
                        <a:rPr lang="uk-UA" sz="2400" dirty="0"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Замовлення</a:t>
                      </a:r>
                      <a:endParaRPr sz="2400" dirty="0"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Integration Test</a:t>
                      </a:r>
                      <a:endParaRPr lang="uk-UA" sz="2400" dirty="0"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PASS</a:t>
                      </a:r>
                      <a:endParaRPr sz="2400" dirty="0"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961649"/>
                  </a:ext>
                </a:extLst>
              </a:tr>
              <a:tr h="5262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uk-UA" sz="2400" dirty="0"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Каталог / Кошик</a:t>
                      </a:r>
                      <a:endParaRPr sz="2400" dirty="0"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25400" marB="25400" anchor="ctr">
                    <a:lnL w="9525" algn="ctr">
                      <a:solidFill>
                        <a:srgbClr val="000000">
                          <a:alpha val="0"/>
                        </a:srgbClr>
                      </a:solidFill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Functional Testing</a:t>
                      </a:r>
                      <a:endParaRPr sz="2400" dirty="0"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  <a:ea typeface="Open Sans" panose="020B0606030504020204" pitchFamily="34" charset="0"/>
                          <a:cs typeface="Calibri" panose="020F0502020204030204" pitchFamily="34" charset="0"/>
                        </a:rPr>
                        <a:t>PASS</a:t>
                      </a:r>
                      <a:endParaRPr sz="2400" dirty="0">
                        <a:latin typeface="Calibri" panose="020F0502020204030204" pitchFamily="34" charset="0"/>
                        <a:ea typeface="Open Sans" panose="020B0606030504020204" pitchFamily="34" charset="0"/>
                        <a:cs typeface="Calibri" panose="020F0502020204030204" pitchFamily="34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algn="ctr">
                      <a:solidFill>
                        <a:srgbClr val="000000">
                          <a:alpha val="0"/>
                        </a:srgbClr>
                      </a:solidFill>
                    </a:lnR>
                    <a:lnT w="9525" algn="ctr">
                      <a:solidFill>
                        <a:srgbClr val="000000">
                          <a:alpha val="0"/>
                        </a:srgbClr>
                      </a:solidFill>
                    </a:lnT>
                    <a:lnB w="9525" algn="ctr">
                      <a:solidFill>
                        <a:srgbClr val="000000">
                          <a:alpha val="0"/>
                        </a:srgb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8812681"/>
                  </a:ext>
                </a:extLst>
              </a:tr>
            </a:tbl>
          </a:graphicData>
        </a:graphic>
      </p:graphicFrame>
      <p:sp>
        <p:nvSpPr>
          <p:cNvPr id="9412629" name="Google Shape;261;p25"/>
          <p:cNvSpPr/>
          <p:nvPr/>
        </p:nvSpPr>
        <p:spPr bwMode="auto">
          <a:xfrm>
            <a:off x="571500" y="3657600"/>
            <a:ext cx="40259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01871056" name="Google Shape;262;p25"/>
          <p:cNvSpPr/>
          <p:nvPr/>
        </p:nvSpPr>
        <p:spPr bwMode="auto">
          <a:xfrm>
            <a:off x="4597449" y="3657600"/>
            <a:ext cx="41823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1069669" name="Google Shape;263;p25"/>
          <p:cNvSpPr/>
          <p:nvPr/>
        </p:nvSpPr>
        <p:spPr bwMode="auto">
          <a:xfrm>
            <a:off x="8779817" y="3657600"/>
            <a:ext cx="28406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88189143" name="Google Shape;264;p25"/>
          <p:cNvSpPr/>
          <p:nvPr/>
        </p:nvSpPr>
        <p:spPr bwMode="auto">
          <a:xfrm>
            <a:off x="571500" y="4167187"/>
            <a:ext cx="40259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87840179" name="Google Shape;265;p25"/>
          <p:cNvSpPr/>
          <p:nvPr/>
        </p:nvSpPr>
        <p:spPr bwMode="auto">
          <a:xfrm>
            <a:off x="4597449" y="4167187"/>
            <a:ext cx="41823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6488759" name="Google Shape;266;p25"/>
          <p:cNvSpPr/>
          <p:nvPr/>
        </p:nvSpPr>
        <p:spPr bwMode="auto">
          <a:xfrm>
            <a:off x="8779817" y="4167187"/>
            <a:ext cx="28406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2423578" name="Google Shape;267;p25"/>
          <p:cNvSpPr/>
          <p:nvPr/>
        </p:nvSpPr>
        <p:spPr bwMode="auto">
          <a:xfrm>
            <a:off x="571500" y="4676775"/>
            <a:ext cx="40259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02001576" name="Google Shape;268;p25"/>
          <p:cNvSpPr/>
          <p:nvPr/>
        </p:nvSpPr>
        <p:spPr bwMode="auto">
          <a:xfrm>
            <a:off x="4597449" y="4676775"/>
            <a:ext cx="41823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38252060" name="Google Shape;269;p25"/>
          <p:cNvSpPr/>
          <p:nvPr/>
        </p:nvSpPr>
        <p:spPr bwMode="auto">
          <a:xfrm>
            <a:off x="8779817" y="4676775"/>
            <a:ext cx="28406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Google Shape;276;p26">
            <a:extLst>
              <a:ext uri="{FF2B5EF4-FFF2-40B4-BE49-F238E27FC236}">
                <a16:creationId xmlns:a16="http://schemas.microsoft.com/office/drawing/2014/main" id="{3F6159EE-ABE4-45E0-9AAD-628ECFFC225D}"/>
              </a:ext>
            </a:extLst>
          </p:cNvPr>
          <p:cNvSpPr/>
          <p:nvPr/>
        </p:nvSpPr>
        <p:spPr bwMode="auto">
          <a:xfrm>
            <a:off x="0" y="0"/>
            <a:ext cx="12192000" cy="12066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23" name="Google Shape;242;p24">
            <a:extLst>
              <a:ext uri="{FF2B5EF4-FFF2-40B4-BE49-F238E27FC236}">
                <a16:creationId xmlns:a16="http://schemas.microsoft.com/office/drawing/2014/main" id="{C86043C1-D62C-43F8-8264-6197A12D16AE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/>
        </p:blipFill>
        <p:spPr bwMode="auto">
          <a:xfrm>
            <a:off x="104775" y="57150"/>
            <a:ext cx="7335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4;p24">
            <a:extLst>
              <a:ext uri="{FF2B5EF4-FFF2-40B4-BE49-F238E27FC236}">
                <a16:creationId xmlns:a16="http://schemas.microsoft.com/office/drawing/2014/main" id="{585AE289-C8A4-423F-A5B4-735D22263D64}"/>
              </a:ext>
            </a:extLst>
          </p:cNvPr>
          <p:cNvSpPr txBox="1"/>
          <p:nvPr/>
        </p:nvSpPr>
        <p:spPr bwMode="auto">
          <a:xfrm>
            <a:off x="952500" y="95250"/>
            <a:ext cx="6667500" cy="831299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НАЦІОНАЛЬНИЙ ТЕХНІЧНИЙ УНІВЕРСИТЕТ УКРАЇНИ</a:t>
            </a:r>
            <a:endParaRPr sz="18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«КИЇВСЬКИЙ ПОЛІТЕХНІЧНИЙ ІНСТИТУТ</a:t>
            </a:r>
            <a:endParaRPr sz="18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імені</a:t>
            </a:r>
            <a:r>
              <a:rPr lang="en-US" sz="1800" b="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ІГОРЯ СІКОРСЬКОГО»</a:t>
            </a:r>
            <a:endParaRPr sz="1800" b="0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Google Shape;274;p26">
            <a:extLst>
              <a:ext uri="{FF2B5EF4-FFF2-40B4-BE49-F238E27FC236}">
                <a16:creationId xmlns:a16="http://schemas.microsoft.com/office/drawing/2014/main" id="{B55B8C8C-F932-4068-BA7E-1C6723DB8152}"/>
              </a:ext>
            </a:extLst>
          </p:cNvPr>
          <p:cNvSpPr/>
          <p:nvPr/>
        </p:nvSpPr>
        <p:spPr bwMode="auto">
          <a:xfrm>
            <a:off x="0" y="6333410"/>
            <a:ext cx="12192000" cy="5250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8" name="Google Shape;281;p26">
            <a:extLst>
              <a:ext uri="{FF2B5EF4-FFF2-40B4-BE49-F238E27FC236}">
                <a16:creationId xmlns:a16="http://schemas.microsoft.com/office/drawing/2014/main" id="{D35CEA2A-FBE0-4B70-B7D7-E1BF4FDD8CAA}"/>
              </a:ext>
            </a:extLst>
          </p:cNvPr>
          <p:cNvSpPr txBox="1"/>
          <p:nvPr/>
        </p:nvSpPr>
        <p:spPr bwMode="auto">
          <a:xfrm>
            <a:off x="11158347" y="6350232"/>
            <a:ext cx="10071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  <a:r>
              <a:rPr lang="ru-RU" sz="2400" b="0" i="0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r>
              <a:rPr lang="en-US" sz="2400" b="0" i="0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/17</a:t>
            </a:r>
            <a:endParaRPr sz="2400" b="0" i="0" u="none" strike="noStrike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0006372" name="Google Shape;274;p26"/>
          <p:cNvSpPr/>
          <p:nvPr/>
        </p:nvSpPr>
        <p:spPr bwMode="auto">
          <a:xfrm>
            <a:off x="0" y="6333410"/>
            <a:ext cx="12192000" cy="5250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1599811858" name="Google Shape;275;p26"/>
          <p:cNvCxnSpPr/>
          <p:nvPr/>
        </p:nvCxnSpPr>
        <p:spPr bwMode="auto">
          <a:xfrm>
            <a:off x="0" y="6333401"/>
            <a:ext cx="12192000" cy="5250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1C39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9749035" name="Google Shape;276;p26"/>
          <p:cNvSpPr/>
          <p:nvPr/>
        </p:nvSpPr>
        <p:spPr bwMode="auto">
          <a:xfrm>
            <a:off x="0" y="0"/>
            <a:ext cx="12192000" cy="12066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904976010" name="Google Shape;277;p26"/>
          <p:cNvCxnSpPr/>
          <p:nvPr/>
        </p:nvCxnSpPr>
        <p:spPr bwMode="auto">
          <a:xfrm>
            <a:off x="0" y="0"/>
            <a:ext cx="12192000" cy="12066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1761686" name="Google Shape;278;p26"/>
          <p:cNvPicPr/>
          <p:nvPr/>
        </p:nvPicPr>
        <p:blipFill rotWithShape="1">
          <a:blip r:embed="rId3">
            <a:alphaModFix/>
          </a:blip>
          <a:srcRect t="80" b="78"/>
          <a:stretch/>
        </p:blipFill>
        <p:spPr bwMode="auto">
          <a:xfrm>
            <a:off x="107204" y="55999"/>
            <a:ext cx="731700" cy="10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853109" name="Google Shape;279;p26"/>
          <p:cNvSpPr txBox="1"/>
          <p:nvPr/>
        </p:nvSpPr>
        <p:spPr bwMode="auto">
          <a:xfrm>
            <a:off x="940525" y="54913"/>
            <a:ext cx="61656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НАЦІОНАЛЬНИЙ ТЕХНІЧНИЙ УНІВЕРСИТЕТ УКРАЇНИ</a:t>
            </a:r>
            <a:endParaRPr sz="18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«КИЇВСЬКИЙ ПОЛІТЕХНІЧНИЙ ІНСТИТУТ</a:t>
            </a:r>
            <a:endParaRPr sz="18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імені ІГОРЯ СІКОРСЬКОГО»</a:t>
            </a:r>
            <a:endParaRPr sz="1800" b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26392835" name="Google Shape;280;p26"/>
          <p:cNvSpPr txBox="1"/>
          <p:nvPr/>
        </p:nvSpPr>
        <p:spPr bwMode="auto">
          <a:xfrm>
            <a:off x="1524000" y="1428750"/>
            <a:ext cx="9144000" cy="85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5550" b="0" i="0" u="none" strike="noStrike" dirty="0" err="1">
                <a:solidFill>
                  <a:srgbClr val="002060"/>
                </a:solidFill>
                <a:latin typeface="Tahoma"/>
                <a:ea typeface="Tahoma"/>
                <a:cs typeface="Tahoma"/>
              </a:rPr>
              <a:t>Впровадження</a:t>
            </a:r>
            <a:r>
              <a:rPr lang="en-US" sz="5550" b="0" i="0" u="none" strike="noStrike" dirty="0">
                <a:solidFill>
                  <a:srgbClr val="002060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5550" b="0" i="0" u="none" strike="noStrike" dirty="0" err="1">
                <a:solidFill>
                  <a:srgbClr val="002060"/>
                </a:solidFill>
                <a:latin typeface="Tahoma"/>
                <a:ea typeface="Tahoma"/>
                <a:cs typeface="Tahoma"/>
              </a:rPr>
              <a:t>та</a:t>
            </a:r>
            <a:r>
              <a:rPr lang="en-US" sz="5550" b="0" i="0" u="none" strike="noStrike" dirty="0">
                <a:solidFill>
                  <a:srgbClr val="002060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5550" b="0" i="0" u="none" strike="noStrike" dirty="0" err="1">
                <a:solidFill>
                  <a:srgbClr val="002060"/>
                </a:solidFill>
                <a:latin typeface="Tahoma"/>
                <a:ea typeface="Tahoma"/>
                <a:cs typeface="Tahoma"/>
              </a:rPr>
              <a:t>супровід</a:t>
            </a:r>
            <a:endParaRPr sz="5550" b="0" i="0" u="none" strike="noStrike" dirty="0">
              <a:solidFill>
                <a:srgbClr val="00206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767450274" name="Google Shape;281;p26"/>
          <p:cNvSpPr txBox="1"/>
          <p:nvPr/>
        </p:nvSpPr>
        <p:spPr bwMode="auto">
          <a:xfrm>
            <a:off x="11158347" y="6350232"/>
            <a:ext cx="10071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0" i="0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15/17</a:t>
            </a:r>
            <a:endParaRPr sz="2400" b="0" i="0" u="none" strike="noStrike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17294432" name="Google Shape;282;p26"/>
          <p:cNvSpPr txBox="1"/>
          <p:nvPr/>
        </p:nvSpPr>
        <p:spPr bwMode="auto">
          <a:xfrm>
            <a:off x="1524000" y="3333750"/>
            <a:ext cx="9144000" cy="238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Розгортання</a:t>
            </a:r>
            <a:r>
              <a:rPr lang="en-US" sz="24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Проєкт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готовий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до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деплою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на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Vercel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(FE)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та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Railway (BE).</a:t>
            </a:r>
            <a:endParaRPr sz="2400" b="0" dirty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  <a:defRPr/>
            </a:pPr>
            <a:r>
              <a:rPr lang="en-US" sz="24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Документація</a:t>
            </a:r>
            <a:r>
              <a:rPr lang="en-US" sz="24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Підготовлено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інструкції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для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адміністрування</a:t>
            </a:r>
            <a:r>
              <a:rPr lang="uk-UA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та посібник для користувача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sz="2400" b="0" dirty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0" lvl="0" indent="0" algn="ctr" rtl="0">
              <a:spcBef>
                <a:spcPts val="750"/>
              </a:spcBef>
              <a:spcAft>
                <a:spcPts val="0"/>
              </a:spcAft>
              <a:buNone/>
              <a:defRPr/>
            </a:pPr>
            <a:r>
              <a:rPr lang="en-US" sz="2400" b="1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Плани</a:t>
            </a:r>
            <a:r>
              <a:rPr lang="en-US" sz="24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Інтеграція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платіжної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системи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LiqPay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та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SEO-</a:t>
            </a:r>
            <a:r>
              <a:rPr lang="en-US" sz="2400" b="0" dirty="0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оптимізація</a:t>
            </a:r>
            <a:r>
              <a:rPr lang="en-US" sz="2400" b="0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.</a:t>
            </a:r>
            <a:endParaRPr sz="2400" b="0" dirty="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0441424" name="Google Shape;287;p27"/>
          <p:cNvSpPr/>
          <p:nvPr/>
        </p:nvSpPr>
        <p:spPr bwMode="auto">
          <a:xfrm>
            <a:off x="0" y="6333410"/>
            <a:ext cx="12192000" cy="5250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536082213" name="Google Shape;288;p27"/>
          <p:cNvCxnSpPr/>
          <p:nvPr/>
        </p:nvCxnSpPr>
        <p:spPr bwMode="auto">
          <a:xfrm>
            <a:off x="0" y="6333401"/>
            <a:ext cx="12192000" cy="5250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1C396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08945892" name="Google Shape;289;p27"/>
          <p:cNvSpPr/>
          <p:nvPr/>
        </p:nvSpPr>
        <p:spPr bwMode="auto">
          <a:xfrm>
            <a:off x="0" y="0"/>
            <a:ext cx="12192000" cy="1206600"/>
          </a:xfrm>
          <a:prstGeom prst="rect">
            <a:avLst/>
          </a:prstGeom>
          <a:solidFill>
            <a:srgbClr val="1C396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cxnSp>
        <p:nvCxnSpPr>
          <p:cNvPr id="646290019" name="Google Shape;290;p27"/>
          <p:cNvCxnSpPr/>
          <p:nvPr/>
        </p:nvCxnSpPr>
        <p:spPr bwMode="auto">
          <a:xfrm>
            <a:off x="0" y="0"/>
            <a:ext cx="12192000" cy="1206600"/>
          </a:xfrm>
          <a:prstGeom prst="straightConnector1">
            <a:avLst/>
          </a:prstGeom>
          <a:solidFill>
            <a:srgbClr val="FFFFFF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952443229" name="Google Shape;291;p27"/>
          <p:cNvPicPr/>
          <p:nvPr/>
        </p:nvPicPr>
        <p:blipFill rotWithShape="1">
          <a:blip r:embed="rId3">
            <a:alphaModFix/>
          </a:blip>
          <a:srcRect t="80" b="78"/>
          <a:stretch/>
        </p:blipFill>
        <p:spPr bwMode="auto">
          <a:xfrm>
            <a:off x="107204" y="55999"/>
            <a:ext cx="731700" cy="10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699309549" name="Google Shape;292;p27"/>
          <p:cNvSpPr txBox="1"/>
          <p:nvPr/>
        </p:nvSpPr>
        <p:spPr bwMode="auto">
          <a:xfrm>
            <a:off x="1524000" y="3602041"/>
            <a:ext cx="9144000" cy="147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Створено повноцінний Full-stack вебзастосунок.</a:t>
            </a:r>
            <a:endParaRPr sz="24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Реалізовано надійну систему керування даними.</a:t>
            </a:r>
            <a:endParaRPr sz="24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Впроваджено унікальну Telegram-інтеграцію.</a:t>
            </a:r>
            <a:endParaRPr sz="24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Мета роботи досягнута, всі завдання виконані у повному обсязі.</a:t>
            </a:r>
            <a:endParaRPr sz="2400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3401290" name="Google Shape;293;p27"/>
          <p:cNvSpPr txBox="1"/>
          <p:nvPr/>
        </p:nvSpPr>
        <p:spPr bwMode="auto">
          <a:xfrm>
            <a:off x="1524000" y="1663303"/>
            <a:ext cx="9144000" cy="9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0">
                <a:solidFill>
                  <a:srgbClr val="002060"/>
                </a:solidFill>
                <a:latin typeface="Tahoma"/>
                <a:ea typeface="Tahoma"/>
                <a:cs typeface="Tahoma"/>
              </a:rPr>
              <a:t>Висновки</a:t>
            </a:r>
            <a:endParaRPr sz="6000">
              <a:solidFill>
                <a:srgbClr val="002060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153816742" name="Google Shape;294;p27"/>
          <p:cNvSpPr txBox="1"/>
          <p:nvPr/>
        </p:nvSpPr>
        <p:spPr bwMode="auto">
          <a:xfrm>
            <a:off x="940525" y="54913"/>
            <a:ext cx="6165600" cy="92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НАЦІОНАЛЬНИЙ ТЕХНІЧНИЙ УНІВЕРСИТЕТ УКРАЇНИ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«КИЇВСЬКИЙ ПОЛІТЕХНІЧНИЙ ІНСТИТУТ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800">
                <a:solidFill>
                  <a:srgbClr val="FFFFFF"/>
                </a:solidFill>
                <a:latin typeface="Arial"/>
                <a:ea typeface="Arial"/>
                <a:cs typeface="Arial"/>
              </a:rPr>
              <a:t>імені ІГОРЯ СІКОРСЬКОГО»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2118752" name="Google Shape;295;p27"/>
          <p:cNvSpPr txBox="1"/>
          <p:nvPr/>
        </p:nvSpPr>
        <p:spPr bwMode="auto">
          <a:xfrm>
            <a:off x="11158347" y="6350232"/>
            <a:ext cx="1007100" cy="461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400">
                <a:solidFill>
                  <a:srgbClr val="FFFFFF"/>
                </a:solidFill>
                <a:latin typeface="Arial"/>
                <a:ea typeface="Arial"/>
                <a:cs typeface="Arial"/>
              </a:rPr>
              <a:t>16/17</a:t>
            </a:r>
            <a:endParaRPr sz="2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="" xmlns:m="http://schemas.openxmlformats.org/officeDocument/2006/math" xmlns:w="http://schemas.openxmlformats.org/wordprocessingml/2006/main">
      <p:transition advClick="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711</Words>
  <Application>Microsoft Office PowerPoint</Application>
  <PresentationFormat>Широкоэкранный</PresentationFormat>
  <Paragraphs>150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Arial</vt:lpstr>
      <vt:lpstr>Calibri</vt:lpstr>
      <vt:lpstr>Montserrat</vt:lpstr>
      <vt:lpstr>Open Sans</vt:lpstr>
      <vt:lpstr>Tahoma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cp:lastModifiedBy>Enot Mr</cp:lastModifiedBy>
  <cp:revision>4</cp:revision>
  <dcterms:modified xsi:type="dcterms:W3CDTF">2026-05-17T12:15:54Z</dcterms:modified>
</cp:coreProperties>
</file>